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oppins"/>
      <p:regular r:id="rId20"/>
      <p:bold r:id="rId21"/>
      <p:italic r:id="rId22"/>
      <p:boldItalic r:id="rId23"/>
    </p:embeddedFont>
    <p:embeddedFont>
      <p:font typeface="Poppins Medium"/>
      <p:regular r:id="rId24"/>
      <p:bold r:id="rId25"/>
      <p:italic r:id="rId26"/>
      <p:boldItalic r:id="rId27"/>
    </p:embeddedFont>
    <p:embeddedFont>
      <p:font typeface="Poppins SemiBold"/>
      <p:regular r:id="rId28"/>
      <p:bold r:id="rId29"/>
      <p:italic r:id="rId30"/>
      <p:boldItalic r:id="rId31"/>
    </p:embeddedFont>
    <p:embeddedFont>
      <p:font typeface="Century Gothic"/>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Medium-regular.fntdata"/><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italic.fntdata"/><Relationship Id="rId25" Type="http://schemas.openxmlformats.org/officeDocument/2006/relationships/font" Target="fonts/PoppinsMedium-bold.fntdata"/><Relationship Id="rId28" Type="http://schemas.openxmlformats.org/officeDocument/2006/relationships/font" Target="fonts/PoppinsSemiBold-regular.fntdata"/><Relationship Id="rId27" Type="http://schemas.openxmlformats.org/officeDocument/2006/relationships/font" Target="fonts/Poppins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boldItalic.fntdata"/><Relationship Id="rId30" Type="http://schemas.openxmlformats.org/officeDocument/2006/relationships/font" Target="fonts/PoppinsSemiBold-italic.fntdata"/><Relationship Id="rId11" Type="http://schemas.openxmlformats.org/officeDocument/2006/relationships/slide" Target="slides/slide6.xml"/><Relationship Id="rId33" Type="http://schemas.openxmlformats.org/officeDocument/2006/relationships/font" Target="fonts/CenturyGothic-bold.fntdata"/><Relationship Id="rId10" Type="http://schemas.openxmlformats.org/officeDocument/2006/relationships/slide" Target="slides/slide5.xml"/><Relationship Id="rId32" Type="http://schemas.openxmlformats.org/officeDocument/2006/relationships/font" Target="fonts/CenturyGothic-regular.fntdata"/><Relationship Id="rId13" Type="http://schemas.openxmlformats.org/officeDocument/2006/relationships/slide" Target="slides/slide8.xml"/><Relationship Id="rId35" Type="http://schemas.openxmlformats.org/officeDocument/2006/relationships/font" Target="fonts/CenturyGothic-boldItalic.fntdata"/><Relationship Id="rId12" Type="http://schemas.openxmlformats.org/officeDocument/2006/relationships/slide" Target="slides/slide7.xml"/><Relationship Id="rId34" Type="http://schemas.openxmlformats.org/officeDocument/2006/relationships/font" Target="fonts/CenturyGothic-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b6c6fb4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b6c6fb4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d48faf876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d48faf876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FFFFFF"/>
                </a:solidFill>
              </a:rPr>
              <a:t>5</a:t>
            </a:r>
            <a:endParaRPr b="1" sz="1400">
              <a:solidFill>
                <a:srgbClr val="FFFFFF"/>
              </a:solidFill>
              <a:latin typeface="Century Gothic"/>
              <a:ea typeface="Century Gothic"/>
              <a:cs typeface="Century Gothic"/>
              <a:sym typeface="Century Gothic"/>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d48faf876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d48faf876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d48faf876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d48faf876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d48faf876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d48faf876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d48faf876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d48faf876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0135c3f7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0135c3f7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0372bba17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0372bba17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d48faf876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d48faf876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0372bba17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0372bba17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0372bba17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0372bba17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0372bba17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0372bba17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42b2b3b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942b2b3b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14" name="Google Shape;14;p2"/>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ank">
  <p:cSld name="TITLE_1">
    <p:spTree>
      <p:nvGrpSpPr>
        <p:cNvPr id="15" name="Shape 15"/>
        <p:cNvGrpSpPr/>
        <p:nvPr/>
      </p:nvGrpSpPr>
      <p:grpSpPr>
        <a:xfrm>
          <a:off x="0" y="0"/>
          <a:ext cx="0" cy="0"/>
          <a:chOff x="0" y="0"/>
          <a:chExt cx="0" cy="0"/>
        </a:xfrm>
      </p:grpSpPr>
      <p:sp>
        <p:nvSpPr>
          <p:cNvPr id="16" name="Google Shape;16;p3"/>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rt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 name="Google Shape;17;p3"/>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 name="Google Shape;18;p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20" name="Google Shape;20;p3"/>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gold">
  <p:cSld name="MAIN_POINT_1_1">
    <p:spTree>
      <p:nvGrpSpPr>
        <p:cNvPr id="21" name="Shape 21"/>
        <p:cNvGrpSpPr/>
        <p:nvPr/>
      </p:nvGrpSpPr>
      <p:grpSpPr>
        <a:xfrm>
          <a:off x="0" y="0"/>
          <a:ext cx="0" cy="0"/>
          <a:chOff x="0" y="0"/>
          <a:chExt cx="0" cy="0"/>
        </a:xfrm>
      </p:grpSpPr>
      <p:cxnSp>
        <p:nvCxnSpPr>
          <p:cNvPr id="22" name="Google Shape;22;p4"/>
          <p:cNvCxnSpPr/>
          <p:nvPr/>
        </p:nvCxnSpPr>
        <p:spPr>
          <a:xfrm>
            <a:off x="466725" y="3665575"/>
            <a:ext cx="7743000" cy="0"/>
          </a:xfrm>
          <a:prstGeom prst="straightConnector1">
            <a:avLst/>
          </a:prstGeom>
          <a:noFill/>
          <a:ln cap="flat" cmpd="sng" w="28575">
            <a:solidFill>
              <a:schemeClr val="lt1"/>
            </a:solidFill>
            <a:prstDash val="solid"/>
            <a:round/>
            <a:headEnd len="med" w="med" type="none"/>
            <a:tailEnd len="med" w="med" type="none"/>
          </a:ln>
        </p:spPr>
      </p:cxnSp>
      <p:sp>
        <p:nvSpPr>
          <p:cNvPr id="23" name="Google Shape;23;p4"/>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4" name="Google Shape;24;p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26" name="Google Shape;26;p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white">
  <p:cSld name="MAIN_POINT_1_1_1">
    <p:spTree>
      <p:nvGrpSpPr>
        <p:cNvPr id="27" name="Shape 27"/>
        <p:cNvGrpSpPr/>
        <p:nvPr/>
      </p:nvGrpSpPr>
      <p:grpSpPr>
        <a:xfrm>
          <a:off x="0" y="0"/>
          <a:ext cx="0" cy="0"/>
          <a:chOff x="0" y="0"/>
          <a:chExt cx="0" cy="0"/>
        </a:xfrm>
      </p:grpSpPr>
      <p:cxnSp>
        <p:nvCxnSpPr>
          <p:cNvPr id="28" name="Google Shape;28;p5"/>
          <p:cNvCxnSpPr/>
          <p:nvPr/>
        </p:nvCxnSpPr>
        <p:spPr>
          <a:xfrm>
            <a:off x="459200" y="3665375"/>
            <a:ext cx="7750500" cy="0"/>
          </a:xfrm>
          <a:prstGeom prst="straightConnector1">
            <a:avLst/>
          </a:prstGeom>
          <a:noFill/>
          <a:ln cap="flat" cmpd="sng" w="28575">
            <a:solidFill>
              <a:schemeClr val="accent1"/>
            </a:solidFill>
            <a:prstDash val="solid"/>
            <a:round/>
            <a:headEnd len="med" w="med" type="none"/>
            <a:tailEnd len="med" w="med" type="none"/>
          </a:ln>
        </p:spPr>
      </p:cxnSp>
      <p:sp>
        <p:nvSpPr>
          <p:cNvPr id="29" name="Google Shape;29;p5"/>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0" name="Google Shape;30;p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2" name="Google Shape;32;p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6"/>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 type="body"/>
          </p:nvPr>
        </p:nvSpPr>
        <p:spPr>
          <a:xfrm>
            <a:off x="457200" y="1645500"/>
            <a:ext cx="8229600" cy="2923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 name="Google Shape;36;p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7" name="Google Shape;37;p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8" name="Google Shape;38;p6"/>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39" name="Google Shape;39;p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idx="3" type="subTitle"/>
          </p:nvPr>
        </p:nvSpPr>
        <p:spPr>
          <a:xfrm>
            <a:off x="457200" y="1228413"/>
            <a:ext cx="8229600" cy="2739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600"/>
              <a:buNone/>
              <a:defRPr sz="1600">
                <a:solidFill>
                  <a:schemeClr val="accent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orient="horz" pos="28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7"/>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7"/>
          <p:cNvSpPr txBox="1"/>
          <p:nvPr>
            <p:ph idx="1" type="body"/>
          </p:nvPr>
        </p:nvSpPr>
        <p:spPr>
          <a:xfrm>
            <a:off x="457200" y="1645514"/>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4" name="Google Shape;44;p7"/>
          <p:cNvSpPr txBox="1"/>
          <p:nvPr>
            <p:ph idx="2" type="body"/>
          </p:nvPr>
        </p:nvSpPr>
        <p:spPr>
          <a:xfrm>
            <a:off x="4832400" y="1645920"/>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 name="Google Shape;45;p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6" name="Google Shape;46;p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47" name="Google Shape;47;p7"/>
          <p:cNvSpPr txBox="1"/>
          <p:nvPr>
            <p:ph idx="3"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8" name="Google Shape;48;p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 name="Google Shape;50;p7"/>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p:cSld name="ONE_COLUMN_TEXT_2">
    <p:spTree>
      <p:nvGrpSpPr>
        <p:cNvPr id="51" name="Shape 51"/>
        <p:cNvGrpSpPr/>
        <p:nvPr/>
      </p:nvGrpSpPr>
      <p:grpSpPr>
        <a:xfrm>
          <a:off x="0" y="0"/>
          <a:ext cx="0" cy="0"/>
          <a:chOff x="0" y="0"/>
          <a:chExt cx="0" cy="0"/>
        </a:xfrm>
      </p:grpSpPr>
      <p:sp>
        <p:nvSpPr>
          <p:cNvPr id="52" name="Google Shape;52;p8"/>
          <p:cNvSpPr/>
          <p:nvPr/>
        </p:nvSpPr>
        <p:spPr>
          <a:xfrm rot="-5400000">
            <a:off x="3317300" y="-665850"/>
            <a:ext cx="2581500" cy="905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55" name="Google Shape;55;p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56" name="Google Shape;56;p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1" name="Google Shape;61;p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62" name="Google Shape;62;p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old">
  <p:cSld name="ONE_COLUMN_TEXT">
    <p:spTree>
      <p:nvGrpSpPr>
        <p:cNvPr id="63" name="Shape 63"/>
        <p:cNvGrpSpPr/>
        <p:nvPr/>
      </p:nvGrpSpPr>
      <p:grpSpPr>
        <a:xfrm>
          <a:off x="0" y="0"/>
          <a:ext cx="0" cy="0"/>
          <a:chOff x="0" y="0"/>
          <a:chExt cx="0" cy="0"/>
        </a:xfrm>
      </p:grpSpPr>
      <p:sp>
        <p:nvSpPr>
          <p:cNvPr id="64" name="Google Shape;64;p10"/>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6" name="Google Shape;66;p10"/>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0"/>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9" name="Google Shape;69;p1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0" name="Google Shape;70;p1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rey">
  <p:cSld name="ONE_COLUMN_TEXT_1">
    <p:spTree>
      <p:nvGrpSpPr>
        <p:cNvPr id="71" name="Shape 71"/>
        <p:cNvGrpSpPr/>
        <p:nvPr/>
      </p:nvGrpSpPr>
      <p:grpSpPr>
        <a:xfrm>
          <a:off x="0" y="0"/>
          <a:ext cx="0" cy="0"/>
          <a:chOff x="0" y="0"/>
          <a:chExt cx="0" cy="0"/>
        </a:xfrm>
      </p:grpSpPr>
      <p:sp>
        <p:nvSpPr>
          <p:cNvPr id="72" name="Google Shape;72;p11"/>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11"/>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5" name="Google Shape;75;p1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1"/>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77" name="Google Shape;77;p1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8" name="Google Shape;78;p1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Half Block Grey">
  <p:cSld name="ONE_COLUMN_TEXT_1_1">
    <p:spTree>
      <p:nvGrpSpPr>
        <p:cNvPr id="79" name="Shape 79"/>
        <p:cNvGrpSpPr/>
        <p:nvPr/>
      </p:nvGrpSpPr>
      <p:grpSpPr>
        <a:xfrm>
          <a:off x="0" y="0"/>
          <a:ext cx="0" cy="0"/>
          <a:chOff x="0" y="0"/>
          <a:chExt cx="0" cy="0"/>
        </a:xfrm>
      </p:grpSpPr>
      <p:sp>
        <p:nvSpPr>
          <p:cNvPr id="80" name="Google Shape;80;p12"/>
          <p:cNvSpPr/>
          <p:nvPr/>
        </p:nvSpPr>
        <p:spPr>
          <a:xfrm rot="-5400000">
            <a:off x="4280175" y="297150"/>
            <a:ext cx="5157300" cy="4554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2"/>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2" name="Google Shape;82;p12"/>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3" name="Google Shape;83;p1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2"/>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85" name="Google Shape;85;p1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86" name="Google Shape;86;p1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Half Block Grey">
  <p:cSld name="ONE_COLUMN_TEXT_1_1_1">
    <p:spTree>
      <p:nvGrpSpPr>
        <p:cNvPr id="87" name="Shape 87"/>
        <p:cNvGrpSpPr/>
        <p:nvPr/>
      </p:nvGrpSpPr>
      <p:grpSpPr>
        <a:xfrm>
          <a:off x="0" y="0"/>
          <a:ext cx="0" cy="0"/>
          <a:chOff x="0" y="0"/>
          <a:chExt cx="0" cy="0"/>
        </a:xfrm>
      </p:grpSpPr>
      <p:sp>
        <p:nvSpPr>
          <p:cNvPr id="88" name="Google Shape;88;p13"/>
          <p:cNvSpPr/>
          <p:nvPr/>
        </p:nvSpPr>
        <p:spPr>
          <a:xfrm rot="-5400000">
            <a:off x="-292650" y="288450"/>
            <a:ext cx="5157300" cy="4572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txBox="1"/>
          <p:nvPr>
            <p:ph type="title"/>
          </p:nvPr>
        </p:nvSpPr>
        <p:spPr>
          <a:xfrm>
            <a:off x="50317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0" name="Google Shape;90;p13"/>
          <p:cNvSpPr txBox="1"/>
          <p:nvPr>
            <p:ph idx="1" type="body"/>
          </p:nvPr>
        </p:nvSpPr>
        <p:spPr>
          <a:xfrm>
            <a:off x="50317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1" name="Google Shape;91;p1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3"/>
          <p:cNvSpPr txBox="1"/>
          <p:nvPr>
            <p:ph idx="2" type="subTitle"/>
          </p:nvPr>
        </p:nvSpPr>
        <p:spPr>
          <a:xfrm>
            <a:off x="5029200" y="0"/>
            <a:ext cx="41148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93" name="Google Shape;93;p1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4" name="Google Shape;94;p1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p1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7" name="Google Shape;97;p1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8" name="Google Shape;98;p1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9" name="Google Shape;99;p1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Preset Image diagonal">
  <p:cSld name="SECTION_TITLE_AND_DESCRIPTION_1">
    <p:spTree>
      <p:nvGrpSpPr>
        <p:cNvPr id="100" name="Shape 100"/>
        <p:cNvGrpSpPr/>
        <p:nvPr/>
      </p:nvGrpSpPr>
      <p:grpSpPr>
        <a:xfrm>
          <a:off x="0" y="0"/>
          <a:ext cx="0" cy="0"/>
          <a:chOff x="0" y="0"/>
          <a:chExt cx="0" cy="0"/>
        </a:xfrm>
      </p:grpSpPr>
      <p:sp>
        <p:nvSpPr>
          <p:cNvPr id="101" name="Google Shape;101;p15"/>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2" name="Google Shape;102;p15"/>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 name="Google Shape;103;p1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4" name="Google Shape;104;p1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05" name="Google Shape;105;p15"/>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 name="Google Shape;106;p1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diagonal">
  <p:cSld name="SECTION_TITLE_AND_DESCRIPTION_1_2">
    <p:spTree>
      <p:nvGrpSpPr>
        <p:cNvPr id="107" name="Shape 107"/>
        <p:cNvGrpSpPr/>
        <p:nvPr/>
      </p:nvGrpSpPr>
      <p:grpSpPr>
        <a:xfrm>
          <a:off x="0" y="0"/>
          <a:ext cx="0" cy="0"/>
          <a:chOff x="0" y="0"/>
          <a:chExt cx="0" cy="0"/>
        </a:xfrm>
      </p:grpSpPr>
      <p:sp>
        <p:nvSpPr>
          <p:cNvPr id="108" name="Google Shape;108;p16"/>
          <p:cNvSpPr/>
          <p:nvPr/>
        </p:nvSpPr>
        <p:spPr>
          <a:xfrm rot="5400000">
            <a:off x="-1116925" y="1090500"/>
            <a:ext cx="5157300" cy="295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0" name="Google Shape;110;p16"/>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1" name="Google Shape;111;p1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1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13" name="Google Shape;113;p16"/>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4" name="Google Shape;114;p1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rot="5400000">
            <a:off x="606575" y="23241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p:cSld name="SECTION_TITLE_AND_DESCRIPTION_1_2_2">
    <p:spTree>
      <p:nvGrpSpPr>
        <p:cNvPr id="116" name="Shape 116"/>
        <p:cNvGrpSpPr/>
        <p:nvPr/>
      </p:nvGrpSpPr>
      <p:grpSpPr>
        <a:xfrm>
          <a:off x="0" y="0"/>
          <a:ext cx="0" cy="0"/>
          <a:chOff x="0" y="0"/>
          <a:chExt cx="0" cy="0"/>
        </a:xfrm>
      </p:grpSpPr>
      <p:sp>
        <p:nvSpPr>
          <p:cNvPr id="117" name="Google Shape;117;p17"/>
          <p:cNvSpPr/>
          <p:nvPr/>
        </p:nvSpPr>
        <p:spPr>
          <a:xfrm rot="5400000">
            <a:off x="-985950" y="959550"/>
            <a:ext cx="5157300" cy="321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9" name="Google Shape;119;p1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0" name="Google Shape;120;p1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21" name="Google Shape;121;p17"/>
          <p:cNvSpPr txBox="1"/>
          <p:nvPr>
            <p:ph idx="1" type="subTitle"/>
          </p:nvPr>
        </p:nvSpPr>
        <p:spPr>
          <a:xfrm>
            <a:off x="367415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22" name="Google Shape;122;p1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diagonal">
  <p:cSld name="SECTION_TITLE_AND_DESCRIPTION_1_2_1">
    <p:spTree>
      <p:nvGrpSpPr>
        <p:cNvPr id="124" name="Shape 124"/>
        <p:cNvGrpSpPr/>
        <p:nvPr/>
      </p:nvGrpSpPr>
      <p:grpSpPr>
        <a:xfrm>
          <a:off x="0" y="0"/>
          <a:ext cx="0" cy="0"/>
          <a:chOff x="0" y="0"/>
          <a:chExt cx="0" cy="0"/>
        </a:xfrm>
      </p:grpSpPr>
      <p:sp>
        <p:nvSpPr>
          <p:cNvPr id="125" name="Google Shape;125;p18"/>
          <p:cNvSpPr/>
          <p:nvPr/>
        </p:nvSpPr>
        <p:spPr>
          <a:xfrm rot="5400000">
            <a:off x="-1116925" y="1090500"/>
            <a:ext cx="5157300" cy="2953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7" name="Google Shape;127;p18"/>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8" name="Google Shape;128;p1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9" name="Google Shape;129;p1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0" name="Google Shape;130;p18"/>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1" name="Google Shape;131;p1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5400000">
            <a:off x="606575" y="23241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163">
          <p15:clr>
            <a:srgbClr val="FA7B17"/>
          </p15:clr>
        </p15:guide>
        <p15:guide id="2" pos="2446">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p:cSld name="SECTION_TITLE_AND_DESCRIPTION_1_2_2_1">
    <p:spTree>
      <p:nvGrpSpPr>
        <p:cNvPr id="133" name="Shape 133"/>
        <p:cNvGrpSpPr/>
        <p:nvPr/>
      </p:nvGrpSpPr>
      <p:grpSpPr>
        <a:xfrm>
          <a:off x="0" y="0"/>
          <a:ext cx="0" cy="0"/>
          <a:chOff x="0" y="0"/>
          <a:chExt cx="0" cy="0"/>
        </a:xfrm>
      </p:grpSpPr>
      <p:sp>
        <p:nvSpPr>
          <p:cNvPr id="134" name="Google Shape;134;p19"/>
          <p:cNvSpPr/>
          <p:nvPr/>
        </p:nvSpPr>
        <p:spPr>
          <a:xfrm rot="5400000">
            <a:off x="-990675" y="964350"/>
            <a:ext cx="5157300" cy="3205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6" name="Google Shape;136;p1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37" name="Google Shape;137;p1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8" name="Google Shape;138;p19"/>
          <p:cNvSpPr txBox="1"/>
          <p:nvPr>
            <p:ph idx="1" type="subTitle"/>
          </p:nvPr>
        </p:nvSpPr>
        <p:spPr>
          <a:xfrm>
            <a:off x="3664625"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9" name="Google Shape;139;p1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Preset Image">
  <p:cSld name="SECTION_TITLE_AND_DESCRIPTION_1_1">
    <p:spTree>
      <p:nvGrpSpPr>
        <p:cNvPr id="141" name="Shape 141"/>
        <p:cNvGrpSpPr/>
        <p:nvPr/>
      </p:nvGrpSpPr>
      <p:grpSpPr>
        <a:xfrm>
          <a:off x="0" y="0"/>
          <a:ext cx="0" cy="0"/>
          <a:chOff x="0" y="0"/>
          <a:chExt cx="0" cy="0"/>
        </a:xfrm>
      </p:grpSpPr>
      <p:sp>
        <p:nvSpPr>
          <p:cNvPr id="142" name="Google Shape;142;p20"/>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3" name="Google Shape;143;p2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44" name="Google Shape;144;p2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45" name="Google Shape;145;p20"/>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6" name="Google Shape;146;p20"/>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7" name="Google Shape;147;p2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diagonal">
  <p:cSld name="SECTION_TITLE_AND_DESCRIPTION_1_1_1">
    <p:spTree>
      <p:nvGrpSpPr>
        <p:cNvPr id="148" name="Shape 148"/>
        <p:cNvGrpSpPr/>
        <p:nvPr/>
      </p:nvGrpSpPr>
      <p:grpSpPr>
        <a:xfrm>
          <a:off x="0" y="0"/>
          <a:ext cx="0" cy="0"/>
          <a:chOff x="0" y="0"/>
          <a:chExt cx="0" cy="0"/>
        </a:xfrm>
      </p:grpSpPr>
      <p:sp>
        <p:nvSpPr>
          <p:cNvPr id="149" name="Google Shape;149;p21"/>
          <p:cNvSpPr/>
          <p:nvPr/>
        </p:nvSpPr>
        <p:spPr>
          <a:xfrm rot="-5400000">
            <a:off x="623900" y="23223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1"/>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2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53" name="Google Shape;153;p2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54" name="Google Shape;154;p21"/>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55" name="Google Shape;155;p21"/>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6" name="Google Shape;156;p2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p:cSld name="SECTION_TITLE_AND_DESCRIPTION_1_1_1_2">
    <p:spTree>
      <p:nvGrpSpPr>
        <p:cNvPr id="157" name="Shape 157"/>
        <p:cNvGrpSpPr/>
        <p:nvPr/>
      </p:nvGrpSpPr>
      <p:grpSpPr>
        <a:xfrm>
          <a:off x="0" y="0"/>
          <a:ext cx="0" cy="0"/>
          <a:chOff x="0" y="0"/>
          <a:chExt cx="0" cy="0"/>
        </a:xfrm>
      </p:grpSpPr>
      <p:sp>
        <p:nvSpPr>
          <p:cNvPr id="158" name="Google Shape;158;p22"/>
          <p:cNvSpPr/>
          <p:nvPr/>
        </p:nvSpPr>
        <p:spPr>
          <a:xfrm rot="-5400000">
            <a:off x="3594375" y="-388650"/>
            <a:ext cx="5157300" cy="592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0" name="Google Shape;160;p2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61" name="Google Shape;161;p2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62" name="Google Shape;162;p22"/>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63" name="Google Shape;163;p22"/>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4" name="Google Shape;164;p2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diagonal">
  <p:cSld name="SECTION_TITLE_AND_DESCRIPTION_1_1_1_1">
    <p:spTree>
      <p:nvGrpSpPr>
        <p:cNvPr id="165" name="Shape 165"/>
        <p:cNvGrpSpPr/>
        <p:nvPr/>
      </p:nvGrpSpPr>
      <p:grpSpPr>
        <a:xfrm>
          <a:off x="0" y="0"/>
          <a:ext cx="0" cy="0"/>
          <a:chOff x="0" y="0"/>
          <a:chExt cx="0" cy="0"/>
        </a:xfrm>
      </p:grpSpPr>
      <p:sp>
        <p:nvSpPr>
          <p:cNvPr id="166" name="Google Shape;166;p23"/>
          <p:cNvSpPr/>
          <p:nvPr/>
        </p:nvSpPr>
        <p:spPr>
          <a:xfrm rot="-5400000">
            <a:off x="623900" y="23223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9" name="Google Shape;169;p2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0" name="Google Shape;170;p2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1" name="Google Shape;171;p23"/>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72" name="Google Shape;172;p23"/>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3" name="Google Shape;173;p2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p:cSld name="SECTION_TITLE_AND_DESCRIPTION_1_1_1_3">
    <p:spTree>
      <p:nvGrpSpPr>
        <p:cNvPr id="174" name="Shape 174"/>
        <p:cNvGrpSpPr/>
        <p:nvPr/>
      </p:nvGrpSpPr>
      <p:grpSpPr>
        <a:xfrm>
          <a:off x="0" y="0"/>
          <a:ext cx="0" cy="0"/>
          <a:chOff x="0" y="0"/>
          <a:chExt cx="0" cy="0"/>
        </a:xfrm>
      </p:grpSpPr>
      <p:sp>
        <p:nvSpPr>
          <p:cNvPr id="175" name="Google Shape;175;p24"/>
          <p:cNvSpPr/>
          <p:nvPr/>
        </p:nvSpPr>
        <p:spPr>
          <a:xfrm rot="-5400000">
            <a:off x="3594375" y="-388650"/>
            <a:ext cx="5157300" cy="5926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7" name="Google Shape;177;p2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8" name="Google Shape;178;p2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9" name="Google Shape;179;p24"/>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0" name="Google Shape;180;p24"/>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1" name="Google Shape;181;p2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2" name="Shape 182"/>
        <p:cNvGrpSpPr/>
        <p:nvPr/>
      </p:nvGrpSpPr>
      <p:grpSpPr>
        <a:xfrm>
          <a:off x="0" y="0"/>
          <a:ext cx="0" cy="0"/>
          <a:chOff x="0" y="0"/>
          <a:chExt cx="0" cy="0"/>
        </a:xfrm>
      </p:grpSpPr>
      <p:sp>
        <p:nvSpPr>
          <p:cNvPr id="183" name="Google Shape;183;p25"/>
          <p:cNvSpPr txBox="1"/>
          <p:nvPr>
            <p:ph idx="1" type="body"/>
          </p:nvPr>
        </p:nvSpPr>
        <p:spPr>
          <a:xfrm>
            <a:off x="457200" y="3963900"/>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
        <p:nvSpPr>
          <p:cNvPr id="184" name="Google Shape;184;p2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5" name="Google Shape;185;p2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86" name="Google Shape;186;p25"/>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r Content" type="blank">
  <p:cSld name="BLANK">
    <p:spTree>
      <p:nvGrpSpPr>
        <p:cNvPr id="187" name="Shape 187"/>
        <p:cNvGrpSpPr/>
        <p:nvPr/>
      </p:nvGrpSpPr>
      <p:grpSpPr>
        <a:xfrm>
          <a:off x="0" y="0"/>
          <a:ext cx="0" cy="0"/>
          <a:chOff x="0" y="0"/>
          <a:chExt cx="0" cy="0"/>
        </a:xfrm>
      </p:grpSpPr>
      <p:sp>
        <p:nvSpPr>
          <p:cNvPr id="188" name="Google Shape;188;p2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2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90" name="Google Shape;190;p26"/>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2">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3" name="Google Shape;193;p27"/>
          <p:cNvPicPr preferRelativeResize="0"/>
          <p:nvPr/>
        </p:nvPicPr>
        <p:blipFill>
          <a:blip r:embed="rId2">
            <a:alphaModFix/>
          </a:blip>
          <a:stretch>
            <a:fillRect/>
          </a:stretch>
        </p:blipFill>
        <p:spPr>
          <a:xfrm>
            <a:off x="7182700" y="4768586"/>
            <a:ext cx="1030225" cy="18288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old">
  <p:cSld name="BLANK_1">
    <p:spTree>
      <p:nvGrpSpPr>
        <p:cNvPr id="194" name="Shape 194"/>
        <p:cNvGrpSpPr/>
        <p:nvPr/>
      </p:nvGrpSpPr>
      <p:grpSpPr>
        <a:xfrm>
          <a:off x="0" y="0"/>
          <a:ext cx="0" cy="0"/>
          <a:chOff x="0" y="0"/>
          <a:chExt cx="0" cy="0"/>
        </a:xfrm>
      </p:grpSpPr>
      <p:sp>
        <p:nvSpPr>
          <p:cNvPr id="195" name="Google Shape;195;p2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45025"/>
            <a:ext cx="8229600" cy="6402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200"/>
              <a:buFont typeface="Poppins Medium"/>
              <a:buNone/>
              <a:defRPr sz="22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457200" y="1645500"/>
            <a:ext cx="8229600" cy="29235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indent="-304800" lvl="1" marL="914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2pPr>
            <a:lvl3pPr indent="-304800" lvl="2" marL="1371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3pPr>
            <a:lvl4pPr indent="-304800" lvl="3" marL="1828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4pPr>
            <a:lvl5pPr indent="-304800" lvl="4" marL="22860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5pPr>
            <a:lvl6pPr indent="-304800" lvl="5" marL="27432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6pPr>
            <a:lvl7pPr indent="-304800" lvl="6" marL="3200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7pPr>
            <a:lvl8pPr indent="-304800" lvl="7" marL="3657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8pPr>
            <a:lvl9pPr indent="-304800" lvl="8" marL="4114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212926" y="4663225"/>
            <a:ext cx="4740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Poppins"/>
                <a:ea typeface="Poppins"/>
                <a:cs typeface="Poppins"/>
                <a:sym typeface="Poppins"/>
              </a:defRPr>
            </a:lvl1pPr>
            <a:lvl2pPr lvl="1" algn="r">
              <a:buNone/>
              <a:defRPr sz="900">
                <a:solidFill>
                  <a:schemeClr val="dk2"/>
                </a:solidFill>
                <a:latin typeface="Poppins"/>
                <a:ea typeface="Poppins"/>
                <a:cs typeface="Poppins"/>
                <a:sym typeface="Poppins"/>
              </a:defRPr>
            </a:lvl2pPr>
            <a:lvl3pPr lvl="2" algn="r">
              <a:buNone/>
              <a:defRPr sz="900">
                <a:solidFill>
                  <a:schemeClr val="dk2"/>
                </a:solidFill>
                <a:latin typeface="Poppins"/>
                <a:ea typeface="Poppins"/>
                <a:cs typeface="Poppins"/>
                <a:sym typeface="Poppins"/>
              </a:defRPr>
            </a:lvl3pPr>
            <a:lvl4pPr lvl="3" algn="r">
              <a:buNone/>
              <a:defRPr sz="900">
                <a:solidFill>
                  <a:schemeClr val="dk2"/>
                </a:solidFill>
                <a:latin typeface="Poppins"/>
                <a:ea typeface="Poppins"/>
                <a:cs typeface="Poppins"/>
                <a:sym typeface="Poppins"/>
              </a:defRPr>
            </a:lvl4pPr>
            <a:lvl5pPr lvl="4" algn="r">
              <a:buNone/>
              <a:defRPr sz="900">
                <a:solidFill>
                  <a:schemeClr val="dk2"/>
                </a:solidFill>
                <a:latin typeface="Poppins"/>
                <a:ea typeface="Poppins"/>
                <a:cs typeface="Poppins"/>
                <a:sym typeface="Poppins"/>
              </a:defRPr>
            </a:lvl5pPr>
            <a:lvl6pPr lvl="5" algn="r">
              <a:buNone/>
              <a:defRPr sz="900">
                <a:solidFill>
                  <a:schemeClr val="dk2"/>
                </a:solidFill>
                <a:latin typeface="Poppins"/>
                <a:ea typeface="Poppins"/>
                <a:cs typeface="Poppins"/>
                <a:sym typeface="Poppins"/>
              </a:defRPr>
            </a:lvl6pPr>
            <a:lvl7pPr lvl="6" algn="r">
              <a:buNone/>
              <a:defRPr sz="900">
                <a:solidFill>
                  <a:schemeClr val="dk2"/>
                </a:solidFill>
                <a:latin typeface="Poppins"/>
                <a:ea typeface="Poppins"/>
                <a:cs typeface="Poppins"/>
                <a:sym typeface="Poppins"/>
              </a:defRPr>
            </a:lvl7pPr>
            <a:lvl8pPr lvl="7" algn="r">
              <a:buNone/>
              <a:defRPr sz="900">
                <a:solidFill>
                  <a:schemeClr val="dk2"/>
                </a:solidFill>
                <a:latin typeface="Poppins"/>
                <a:ea typeface="Poppins"/>
                <a:cs typeface="Poppins"/>
                <a:sym typeface="Poppins"/>
              </a:defRPr>
            </a:lvl8pPr>
            <a:lvl9pPr lvl="8" algn="r">
              <a:buNone/>
              <a:defRPr sz="900">
                <a:solidFill>
                  <a:schemeClr val="dk2"/>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A4335"/>
          </p15:clr>
        </p15:guide>
        <p15:guide id="2" pos="5472">
          <p15:clr>
            <a:srgbClr val="EA4335"/>
          </p15:clr>
        </p15:guide>
        <p15:guide id="3" orient="horz" pos="280">
          <p15:clr>
            <a:srgbClr val="EA4335"/>
          </p15:clr>
        </p15:guide>
        <p15:guide id="4" orient="horz" pos="144">
          <p15:clr>
            <a:srgbClr val="EA4335"/>
          </p15:clr>
        </p15:guide>
        <p15:guide id="5" orient="horz" pos="864">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sdgs.un.org/goals/goal2" TargetMode="External"/><Relationship Id="rId4" Type="http://schemas.openxmlformats.org/officeDocument/2006/relationships/hyperlink" Target="https://sdgs.un.org/goals/goal3" TargetMode="External"/><Relationship Id="rId5" Type="http://schemas.openxmlformats.org/officeDocument/2006/relationships/hyperlink" Target="https://sdgs.un.org/goals/goal6" TargetMode="External"/><Relationship Id="rId6" Type="http://schemas.openxmlformats.org/officeDocument/2006/relationships/hyperlink" Target="https://sdgs.un.org/goals/goal16" TargetMode="External"/><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hyperlink" Target="https://www.oecd.org/food-systems/" TargetMode="External"/><Relationship Id="rId4" Type="http://schemas.openxmlformats.org/officeDocument/2006/relationships/hyperlink" Target="https://archive.ipcc.ch/ipccreports/tar/wg2/index.php?idp=289" TargetMode="External"/><Relationship Id="rId5" Type="http://schemas.openxmlformats.org/officeDocument/2006/relationships/hyperlink" Target="https://www.ifad.org/en/web/latest/-/what-we-are-reading-on-food-systems" TargetMode="External"/><Relationship Id="rId6" Type="http://schemas.openxmlformats.org/officeDocument/2006/relationships/hyperlink" Target="https://www.fao.org/3/ca2079en/CA2079EN.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pubmed.ncbi.nlm.nih.gov/12171751/" TargetMode="External"/><Relationship Id="rId4" Type="http://schemas.openxmlformats.org/officeDocument/2006/relationships/hyperlink" Target="https://www.who.int/news/item/13-12-2017-world-bank-and-who-half-the-world-lacks-access-to-essential-health-services-100-million-still-pushed-into-extreme-poverty-because-of-health-expenses" TargetMode="External"/><Relationship Id="rId5" Type="http://schemas.openxmlformats.org/officeDocument/2006/relationships/hyperlink" Target="https://www.who.int/news-room/fact-sheets/detail/universal-health-coverage-(uhc)" TargetMode="External"/><Relationship Id="rId6" Type="http://schemas.openxmlformats.org/officeDocument/2006/relationships/hyperlink" Target="https://www.hanshep.org/resources/links/world-bank-group-health-in-africa-initiativ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www.who.int/water_sanitation_health/publications/2012/globalcosts.pdf" TargetMode="External"/><Relationship Id="rId4" Type="http://schemas.openxmlformats.org/officeDocument/2006/relationships/hyperlink" Target="https://databank.worldbank.org/metadataglossary/world-development-indicators/series/SH.STA.BASS.UR.ZS" TargetMode="External"/><Relationship Id="rId5" Type="http://schemas.openxmlformats.org/officeDocument/2006/relationships/hyperlink" Target="https://www.cdc.gov/healthywater/global/assessing.html" TargetMode="External"/><Relationship Id="rId6" Type="http://schemas.openxmlformats.org/officeDocument/2006/relationships/hyperlink" Target="https://www.cdc.gov/healthywater/global/wash_statistics.html" TargetMode="External"/><Relationship Id="rId7" Type="http://schemas.openxmlformats.org/officeDocument/2006/relationships/hyperlink" Target="https://www.who.int/news-room/fact-sheets/detail/sanitation" TargetMode="External"/><Relationship Id="rId8" Type="http://schemas.openxmlformats.org/officeDocument/2006/relationships/hyperlink" Target="https://www.satelliteindustries.com/blog/new-technology-in-sanita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www.imf.org/en/Topics/Inequality/introduction-to-inequality" TargetMode="External"/><Relationship Id="rId4" Type="http://schemas.openxmlformats.org/officeDocument/2006/relationships/hyperlink" Target="https://www.weforum.org/agenda/2020/01/5-shocking-facts-about-inequality-according-to-oxfam-s-latest-report/" TargetMode="External"/><Relationship Id="rId5" Type="http://schemas.openxmlformats.org/officeDocument/2006/relationships/hyperlink" Target="https://www.ubiworks.ca/howtopay" TargetMode="External"/><Relationship Id="rId6" Type="http://schemas.openxmlformats.org/officeDocument/2006/relationships/hyperlink" Target="https://www.hanshep.org/resources/links/world-bank-group-health-in-africa-initiativ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hyperlink" Target="https://www.google.com/url?sa=t&amp;rct=j&amp;q=&amp;esrc=s&amp;source=web&amp;cd=&amp;ved=2ahUKEwiqndi30vL8AhWRjIkEHU7TCGoQFnoECBIQAw&amp;url=https%3A%2F%2Fsustainabledevelopment.un.org%2Fcontent%2Fdocuments%2Fhlpwater%2F07-ValueWater.pdf&amp;usg=AOvVaw3BvOLefMstoI5n-VbjsPT8" TargetMode="External"/><Relationship Id="rId4" Type="http://schemas.openxmlformats.org/officeDocument/2006/relationships/hyperlink" Target="https://www.google.com/url?sa=t&amp;rct=j&amp;q=&amp;esrc=s&amp;source=web&amp;cd=&amp;cad=rja&amp;uact=8&amp;ved=2ahUKEwj1mo3k0vL8AhU8k4kEHeasBtMQFnoECA0QAw&amp;url=https%3A%2F%2Fwww.epa.gov%2Fwatersense%2Fstatistics-and-facts&amp;usg=AOvVaw3qHRIdxH4RmOyWEmMWOGfu" TargetMode="External"/><Relationship Id="rId5" Type="http://schemas.openxmlformats.org/officeDocument/2006/relationships/hyperlink" Target="https://www.oecd.org/env/resources/water-therightpricecanencourageefficiencyandinvestment.htm" TargetMode="External"/><Relationship Id="rId6" Type="http://schemas.openxmlformats.org/officeDocument/2006/relationships/hyperlink" Target="https://www.ecoideaz.com/expert-corner/innovative-water-conserv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hyperlink" Target="https://phap.org/PHAP/PHAP/Themes/Humanitarianism.aspx" TargetMode="External"/><Relationship Id="rId4" Type="http://schemas.openxmlformats.org/officeDocument/2006/relationships/hyperlink" Target="https://interagencystandingcommittee.org/" TargetMode="External"/><Relationship Id="rId5" Type="http://schemas.openxmlformats.org/officeDocument/2006/relationships/hyperlink" Target="https://www.un.org/en/our-work/deliver-humanitarian-aid" TargetMode="External"/><Relationship Id="rId6" Type="http://schemas.openxmlformats.org/officeDocument/2006/relationships/hyperlink" Target="https://www.unwomen.org/en/what-we-do/humanitarian-action/facts-and-figures" TargetMode="External"/><Relationship Id="rId7" Type="http://schemas.openxmlformats.org/officeDocument/2006/relationships/hyperlink" Target="https://www.unrefugees.org/emergencies/ukrai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globalspark.world/hacktheglobe" TargetMode="External"/><Relationship Id="rId4" Type="http://schemas.openxmlformats.org/officeDocument/2006/relationships/image" Target="../media/image5.jpg"/><Relationship Id="rId5"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idx="4294967295" type="body"/>
          </p:nvPr>
        </p:nvSpPr>
        <p:spPr>
          <a:xfrm>
            <a:off x="597350" y="1414675"/>
            <a:ext cx="8089500" cy="2571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100">
                <a:solidFill>
                  <a:srgbClr val="000000"/>
                </a:solidFill>
              </a:rPr>
              <a:t>Each hackathon project will be built around a specific </a:t>
            </a:r>
            <a:r>
              <a:rPr b="1" lang="en" sz="1100">
                <a:solidFill>
                  <a:srgbClr val="000000"/>
                </a:solidFill>
              </a:rPr>
              <a:t>theme</a:t>
            </a:r>
            <a:r>
              <a:rPr lang="en" sz="1100">
                <a:solidFill>
                  <a:srgbClr val="000000"/>
                </a:solidFill>
              </a:rPr>
              <a:t> - a focus area that outlines the kind of problems you’ll be solving and the impact your solution aims to create. Themes are designed to help guide your creativity, give structure to your ideas, and ensure your project is aligned with the overall goals of the event.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spcBef>
                <a:spcPts val="0"/>
              </a:spcBef>
              <a:spcAft>
                <a:spcPts val="0"/>
              </a:spcAft>
              <a:buNone/>
            </a:pPr>
            <a:r>
              <a:rPr lang="en" sz="1100">
                <a:solidFill>
                  <a:srgbClr val="000000"/>
                </a:solidFill>
              </a:rPr>
              <a:t>Your final project will be evaluated by a panel of judges who are </a:t>
            </a:r>
            <a:r>
              <a:rPr b="1" lang="en" sz="1100">
                <a:solidFill>
                  <a:srgbClr val="000000"/>
                </a:solidFill>
              </a:rPr>
              <a:t>experts in that theme’s domain</a:t>
            </a:r>
            <a:r>
              <a:rPr lang="en" sz="1100">
                <a:solidFill>
                  <a:srgbClr val="000000"/>
                </a:solidFill>
              </a:rPr>
              <a:t>. A strong alignment between your project and your chosen theme can </a:t>
            </a:r>
            <a:r>
              <a:rPr b="1" lang="en" sz="1100">
                <a:solidFill>
                  <a:srgbClr val="000000"/>
                </a:solidFill>
              </a:rPr>
              <a:t>significantly boost your score</a:t>
            </a:r>
            <a:r>
              <a:rPr lang="en" sz="1100">
                <a:solidFill>
                  <a:srgbClr val="000000"/>
                </a:solidFill>
              </a:rPr>
              <a:t>, as it shows you’ve understood the problem space, used relevant insights, and tailored your solution to the needs and opportunities in that area.</a:t>
            </a:r>
            <a:endParaRPr sz="1100">
              <a:solidFill>
                <a:srgbClr val="000000"/>
              </a:solidFill>
            </a:endParaRPr>
          </a:p>
          <a:p>
            <a:pPr indent="0" lvl="0" marL="0" rtl="0" algn="l">
              <a:spcBef>
                <a:spcPts val="1200"/>
              </a:spcBef>
              <a:spcAft>
                <a:spcPts val="0"/>
              </a:spcAft>
              <a:buNone/>
            </a:pPr>
            <a:r>
              <a:rPr lang="en" sz="1100">
                <a:solidFill>
                  <a:srgbClr val="000000"/>
                </a:solidFill>
              </a:rPr>
              <a:t>In short:</a:t>
            </a:r>
            <a:endParaRPr sz="1100">
              <a:solidFill>
                <a:srgbClr val="000000"/>
              </a:solidFil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rPr>
              <a:t>Themes help you </a:t>
            </a:r>
            <a:r>
              <a:rPr b="1" lang="en" sz="1100">
                <a:solidFill>
                  <a:srgbClr val="000000"/>
                </a:solidFill>
              </a:rPr>
              <a:t>focus</a:t>
            </a:r>
            <a:r>
              <a:rPr lang="en" sz="1100">
                <a:solidFill>
                  <a:srgbClr val="000000"/>
                </a:solidFill>
              </a:rPr>
              <a:t> your ideas.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Judges are </a:t>
            </a:r>
            <a:r>
              <a:rPr b="1" lang="en" sz="1100">
                <a:solidFill>
                  <a:srgbClr val="000000"/>
                </a:solidFill>
              </a:rPr>
              <a:t>specialists</a:t>
            </a:r>
            <a:r>
              <a:rPr lang="en" sz="1100">
                <a:solidFill>
                  <a:srgbClr val="000000"/>
                </a:solidFill>
              </a:rPr>
              <a:t> in the theme you choose.</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The closer your solution matches the theme’s goals, the </a:t>
            </a:r>
            <a:r>
              <a:rPr b="1" lang="en" sz="1100">
                <a:solidFill>
                  <a:srgbClr val="000000"/>
                </a:solidFill>
              </a:rPr>
              <a:t>better your chances</a:t>
            </a:r>
            <a:r>
              <a:rPr lang="en" sz="1100">
                <a:solidFill>
                  <a:srgbClr val="000000"/>
                </a:solidFill>
              </a:rPr>
              <a:t> of impressing the panel.</a:t>
            </a:r>
            <a:endParaRPr b="1"/>
          </a:p>
          <a:p>
            <a:pPr indent="0" lvl="0" marL="0" rtl="0" algn="l">
              <a:lnSpc>
                <a:spcPct val="115000"/>
              </a:lnSpc>
              <a:spcBef>
                <a:spcPts val="1200"/>
              </a:spcBef>
              <a:spcAft>
                <a:spcPts val="0"/>
              </a:spcAft>
              <a:buNone/>
            </a:pPr>
            <a:r>
              <a:t/>
            </a:r>
            <a:endParaRPr/>
          </a:p>
        </p:txBody>
      </p:sp>
      <p:pic>
        <p:nvPicPr>
          <p:cNvPr id="201" name="Google Shape;201;p29" title="Screenshot 2025-08-12 at 10.50.41 PM.png"/>
          <p:cNvPicPr preferRelativeResize="0"/>
          <p:nvPr/>
        </p:nvPicPr>
        <p:blipFill>
          <a:blip r:embed="rId3">
            <a:alphaModFix/>
          </a:blip>
          <a:stretch>
            <a:fillRect/>
          </a:stretch>
        </p:blipFill>
        <p:spPr>
          <a:xfrm>
            <a:off x="457200" y="380475"/>
            <a:ext cx="2685476" cy="709850"/>
          </a:xfrm>
          <a:prstGeom prst="rect">
            <a:avLst/>
          </a:prstGeom>
          <a:noFill/>
          <a:ln>
            <a:noFill/>
          </a:ln>
        </p:spPr>
      </p:pic>
      <p:sp>
        <p:nvSpPr>
          <p:cNvPr id="202" name="Google Shape;202;p2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ctrTitle"/>
          </p:nvPr>
        </p:nvSpPr>
        <p:spPr>
          <a:xfrm>
            <a:off x="529563" y="2221775"/>
            <a:ext cx="7748700" cy="151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595959"/>
                </a:solidFill>
              </a:rPr>
              <a:t>Health and Humanity</a:t>
            </a:r>
            <a:endParaRPr>
              <a:solidFill>
                <a:srgbClr val="595959"/>
              </a:solidFill>
            </a:endParaRPr>
          </a:p>
        </p:txBody>
      </p:sp>
      <p:sp>
        <p:nvSpPr>
          <p:cNvPr id="208" name="Google Shape;208;p30"/>
          <p:cNvSpPr/>
          <p:nvPr/>
        </p:nvSpPr>
        <p:spPr>
          <a:xfrm>
            <a:off x="177050" y="3227375"/>
            <a:ext cx="1848900" cy="739500"/>
          </a:xfrm>
          <a:prstGeom prst="rect">
            <a:avLst/>
          </a:prstGeom>
          <a:solidFill>
            <a:srgbClr val="FFFFFF"/>
          </a:solidFill>
          <a:ln cap="flat" cmpd="sng" w="9525">
            <a:solidFill>
              <a:srgbClr val="F5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0"/>
          <p:cNvSpPr txBox="1"/>
          <p:nvPr>
            <p:ph idx="1" type="subTitle"/>
          </p:nvPr>
        </p:nvSpPr>
        <p:spPr>
          <a:xfrm>
            <a:off x="529575" y="3238475"/>
            <a:ext cx="7942200" cy="717300"/>
          </a:xfrm>
          <a:prstGeom prst="rect">
            <a:avLst/>
          </a:prstGeom>
          <a:solidFill>
            <a:schemeClr val="lt1"/>
          </a:solidFill>
        </p:spPr>
        <p:txBody>
          <a:bodyPr anchorCtr="0" anchor="ctr" bIns="0" lIns="0" spcFirstLastPara="1" rIns="0" wrap="square" tIns="0">
            <a:noAutofit/>
          </a:bodyPr>
          <a:lstStyle/>
          <a:p>
            <a:pPr indent="0" lvl="0" marL="0" rtl="0" algn="l">
              <a:spcBef>
                <a:spcPts val="0"/>
              </a:spcBef>
              <a:spcAft>
                <a:spcPts val="0"/>
              </a:spcAft>
              <a:buNone/>
            </a:pPr>
            <a:r>
              <a:rPr lang="en"/>
              <a:t>Help people access essential life services in underserved communities and better identify global health threats with diagnostic and preventive </a:t>
            </a:r>
            <a:r>
              <a:rPr lang="en"/>
              <a:t>methods</a:t>
            </a:r>
            <a:r>
              <a:rPr lang="en"/>
              <a:t>.</a:t>
            </a:r>
            <a:endParaRPr/>
          </a:p>
        </p:txBody>
      </p:sp>
      <p:pic>
        <p:nvPicPr>
          <p:cNvPr id="210" name="Google Shape;210;p30"/>
          <p:cNvPicPr preferRelativeResize="0"/>
          <p:nvPr/>
        </p:nvPicPr>
        <p:blipFill rotWithShape="1">
          <a:blip r:embed="rId3">
            <a:alphaModFix/>
          </a:blip>
          <a:srcRect b="50297" l="440" r="-440" t="29883"/>
          <a:stretch/>
        </p:blipFill>
        <p:spPr>
          <a:xfrm>
            <a:off x="-12" y="-382314"/>
            <a:ext cx="9249475" cy="1221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Table of Contents</a:t>
            </a:r>
            <a:endParaRPr/>
          </a:p>
        </p:txBody>
      </p:sp>
      <p:sp>
        <p:nvSpPr>
          <p:cNvPr id="216" name="Google Shape;216;p31"/>
          <p:cNvSpPr txBox="1"/>
          <p:nvPr>
            <p:ph idx="1" type="body"/>
          </p:nvPr>
        </p:nvSpPr>
        <p:spPr>
          <a:xfrm>
            <a:off x="845575" y="1349475"/>
            <a:ext cx="5407800" cy="291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900"/>
              <a:t>Executive Summary</a:t>
            </a:r>
            <a:endParaRPr sz="1900"/>
          </a:p>
          <a:p>
            <a:pPr indent="0" lvl="0" marL="0" rtl="0" algn="l">
              <a:spcBef>
                <a:spcPts val="1200"/>
              </a:spcBef>
              <a:spcAft>
                <a:spcPts val="0"/>
              </a:spcAft>
              <a:buNone/>
            </a:pPr>
            <a:r>
              <a:rPr lang="en" sz="1900"/>
              <a:t>Overview</a:t>
            </a:r>
            <a:endParaRPr sz="1900"/>
          </a:p>
          <a:p>
            <a:pPr indent="0" lvl="0" marL="0" rtl="0" algn="l">
              <a:spcBef>
                <a:spcPts val="1200"/>
              </a:spcBef>
              <a:spcAft>
                <a:spcPts val="0"/>
              </a:spcAft>
              <a:buNone/>
            </a:pPr>
            <a:r>
              <a:rPr lang="en" sz="1900"/>
              <a:t>Relevant SDGs</a:t>
            </a:r>
            <a:endParaRPr sz="1900"/>
          </a:p>
          <a:p>
            <a:pPr indent="0" lvl="0" marL="0" rtl="0" algn="l">
              <a:spcBef>
                <a:spcPts val="1200"/>
              </a:spcBef>
              <a:spcAft>
                <a:spcPts val="0"/>
              </a:spcAft>
              <a:buNone/>
            </a:pPr>
            <a:r>
              <a:rPr lang="en" sz="1900"/>
              <a:t>Subthemes</a:t>
            </a:r>
            <a:endParaRPr sz="1900"/>
          </a:p>
          <a:p>
            <a:pPr indent="0" lvl="0" marL="0" rtl="0" algn="l">
              <a:spcBef>
                <a:spcPts val="1200"/>
              </a:spcBef>
              <a:spcAft>
                <a:spcPts val="0"/>
              </a:spcAft>
              <a:buNone/>
            </a:pPr>
            <a:r>
              <a:rPr lang="en" sz="1900"/>
              <a:t>Examples</a:t>
            </a:r>
            <a:endParaRPr sz="1900"/>
          </a:p>
          <a:p>
            <a:pPr indent="0" lvl="0" marL="0" rtl="0" algn="l">
              <a:spcBef>
                <a:spcPts val="1200"/>
              </a:spcBef>
              <a:spcAft>
                <a:spcPts val="0"/>
              </a:spcAft>
              <a:buNone/>
            </a:pPr>
            <a:r>
              <a:t/>
            </a:r>
            <a:endParaRPr sz="1900"/>
          </a:p>
          <a:p>
            <a:pPr indent="0" lvl="0" marL="0" rtl="0" algn="l">
              <a:spcBef>
                <a:spcPts val="1200"/>
              </a:spcBef>
              <a:spcAft>
                <a:spcPts val="0"/>
              </a:spcAft>
              <a:buNone/>
            </a:pPr>
            <a:r>
              <a:t/>
            </a:r>
            <a:endParaRPr sz="1900"/>
          </a:p>
          <a:p>
            <a:pPr indent="0" lvl="0" marL="0" rtl="0" algn="l">
              <a:spcBef>
                <a:spcPts val="1200"/>
              </a:spcBef>
              <a:spcAft>
                <a:spcPts val="1200"/>
              </a:spcAft>
              <a:buNone/>
            </a:pPr>
            <a:r>
              <a:t/>
            </a:r>
            <a:endParaRPr sz="1900"/>
          </a:p>
        </p:txBody>
      </p:sp>
      <p:sp>
        <p:nvSpPr>
          <p:cNvPr id="217" name="Google Shape;217;p3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1"/>
          <p:cNvSpPr/>
          <p:nvPr/>
        </p:nvSpPr>
        <p:spPr>
          <a:xfrm>
            <a:off x="475488" y="14016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1</a:t>
            </a:r>
            <a:endParaRPr b="1">
              <a:solidFill>
                <a:srgbClr val="FFFFFF"/>
              </a:solidFill>
              <a:latin typeface="Century Gothic"/>
              <a:ea typeface="Century Gothic"/>
              <a:cs typeface="Century Gothic"/>
              <a:sym typeface="Century Gothic"/>
            </a:endParaRPr>
          </a:p>
        </p:txBody>
      </p:sp>
      <p:sp>
        <p:nvSpPr>
          <p:cNvPr id="219" name="Google Shape;219;p31"/>
          <p:cNvSpPr/>
          <p:nvPr/>
        </p:nvSpPr>
        <p:spPr>
          <a:xfrm>
            <a:off x="475488" y="1874520"/>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2</a:t>
            </a:r>
            <a:endParaRPr b="1">
              <a:solidFill>
                <a:srgbClr val="FFFFFF"/>
              </a:solidFill>
              <a:latin typeface="Century Gothic"/>
              <a:ea typeface="Century Gothic"/>
              <a:cs typeface="Century Gothic"/>
              <a:sym typeface="Century Gothic"/>
            </a:endParaRPr>
          </a:p>
        </p:txBody>
      </p:sp>
      <p:sp>
        <p:nvSpPr>
          <p:cNvPr id="220" name="Google Shape;220;p31"/>
          <p:cNvSpPr/>
          <p:nvPr/>
        </p:nvSpPr>
        <p:spPr>
          <a:xfrm>
            <a:off x="472500" y="2359152"/>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3</a:t>
            </a:r>
            <a:endParaRPr b="1">
              <a:solidFill>
                <a:srgbClr val="FFFFFF"/>
              </a:solidFill>
              <a:latin typeface="Century Gothic"/>
              <a:ea typeface="Century Gothic"/>
              <a:cs typeface="Century Gothic"/>
              <a:sym typeface="Century Gothic"/>
            </a:endParaRPr>
          </a:p>
        </p:txBody>
      </p:sp>
      <p:sp>
        <p:nvSpPr>
          <p:cNvPr id="221" name="Google Shape;221;p31"/>
          <p:cNvSpPr/>
          <p:nvPr/>
        </p:nvSpPr>
        <p:spPr>
          <a:xfrm>
            <a:off x="472500" y="28494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4</a:t>
            </a:r>
            <a:endParaRPr b="1">
              <a:solidFill>
                <a:srgbClr val="FFFFFF"/>
              </a:solidFill>
              <a:latin typeface="Century Gothic"/>
              <a:ea typeface="Century Gothic"/>
              <a:cs typeface="Century Gothic"/>
              <a:sym typeface="Century Gothic"/>
            </a:endParaRPr>
          </a:p>
        </p:txBody>
      </p:sp>
      <p:sp>
        <p:nvSpPr>
          <p:cNvPr id="222" name="Google Shape;222;p31"/>
          <p:cNvSpPr txBox="1"/>
          <p:nvPr>
            <p:ph idx="2" type="subTitle"/>
          </p:nvPr>
        </p:nvSpPr>
        <p:spPr>
          <a:xfrm>
            <a:off x="7109500" y="1149975"/>
            <a:ext cx="1308900" cy="31173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sz="1900">
                <a:solidFill>
                  <a:schemeClr val="dk2"/>
                </a:solidFill>
              </a:rPr>
              <a:t>… 04</a:t>
            </a:r>
            <a:endParaRPr sz="1900">
              <a:solidFill>
                <a:schemeClr val="dk2"/>
              </a:solidFill>
            </a:endParaRPr>
          </a:p>
          <a:p>
            <a:pPr indent="0" lvl="0" marL="0" rtl="0" algn="r">
              <a:spcBef>
                <a:spcPts val="1200"/>
              </a:spcBef>
              <a:spcAft>
                <a:spcPts val="0"/>
              </a:spcAft>
              <a:buNone/>
            </a:pPr>
            <a:r>
              <a:rPr lang="en" sz="1900">
                <a:solidFill>
                  <a:schemeClr val="dk2"/>
                </a:solidFill>
              </a:rPr>
              <a:t>…05 </a:t>
            </a:r>
            <a:endParaRPr sz="1900">
              <a:solidFill>
                <a:schemeClr val="dk2"/>
              </a:solidFill>
            </a:endParaRPr>
          </a:p>
          <a:p>
            <a:pPr indent="0" lvl="0" marL="0" rtl="0" algn="r">
              <a:spcBef>
                <a:spcPts val="1200"/>
              </a:spcBef>
              <a:spcAft>
                <a:spcPts val="0"/>
              </a:spcAft>
              <a:buNone/>
            </a:pPr>
            <a:r>
              <a:rPr lang="en" sz="1900">
                <a:solidFill>
                  <a:schemeClr val="dk2"/>
                </a:solidFill>
              </a:rPr>
              <a:t>…06 </a:t>
            </a:r>
            <a:endParaRPr sz="1900">
              <a:solidFill>
                <a:schemeClr val="dk2"/>
              </a:solidFill>
            </a:endParaRPr>
          </a:p>
          <a:p>
            <a:pPr indent="0" lvl="0" marL="0" rtl="0" algn="r">
              <a:spcBef>
                <a:spcPts val="1200"/>
              </a:spcBef>
              <a:spcAft>
                <a:spcPts val="0"/>
              </a:spcAft>
              <a:buNone/>
            </a:pPr>
            <a:r>
              <a:rPr lang="en" sz="1900">
                <a:solidFill>
                  <a:schemeClr val="dk2"/>
                </a:solidFill>
              </a:rPr>
              <a:t>…07 </a:t>
            </a:r>
            <a:endParaRPr sz="1900">
              <a:solidFill>
                <a:schemeClr val="dk2"/>
              </a:solidFill>
            </a:endParaRPr>
          </a:p>
          <a:p>
            <a:pPr indent="0" lvl="0" marL="0" rtl="0" algn="r">
              <a:spcBef>
                <a:spcPts val="1200"/>
              </a:spcBef>
              <a:spcAft>
                <a:spcPts val="0"/>
              </a:spcAft>
              <a:buNone/>
            </a:pPr>
            <a:r>
              <a:rPr lang="en" sz="1900">
                <a:solidFill>
                  <a:schemeClr val="dk2"/>
                </a:solidFill>
              </a:rPr>
              <a:t>…14 </a:t>
            </a:r>
            <a:endParaRPr sz="1900">
              <a:solidFill>
                <a:schemeClr val="dk2"/>
              </a:solidFill>
            </a:endParaRPr>
          </a:p>
          <a:p>
            <a:pPr indent="0" lvl="0" marL="0" rtl="0" algn="r">
              <a:spcBef>
                <a:spcPts val="1200"/>
              </a:spcBef>
              <a:spcAft>
                <a:spcPts val="1200"/>
              </a:spcAft>
              <a:buNone/>
            </a:pPr>
            <a:r>
              <a:t/>
            </a:r>
            <a:endParaRPr sz="1900">
              <a:solidFill>
                <a:schemeClr val="dk2"/>
              </a:solidFill>
            </a:endParaRPr>
          </a:p>
        </p:txBody>
      </p:sp>
      <p:pic>
        <p:nvPicPr>
          <p:cNvPr id="223" name="Google Shape;223;p31"/>
          <p:cNvPicPr preferRelativeResize="0"/>
          <p:nvPr/>
        </p:nvPicPr>
        <p:blipFill>
          <a:blip r:embed="rId3">
            <a:alphaModFix/>
          </a:blip>
          <a:stretch>
            <a:fillRect/>
          </a:stretch>
        </p:blipFill>
        <p:spPr>
          <a:xfrm>
            <a:off x="414745" y="3260875"/>
            <a:ext cx="335705" cy="393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Executive Summary</a:t>
            </a:r>
            <a:endParaRPr/>
          </a:p>
        </p:txBody>
      </p:sp>
      <p:sp>
        <p:nvSpPr>
          <p:cNvPr id="229" name="Google Shape;229;p3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2"/>
          <p:cNvSpPr txBox="1"/>
          <p:nvPr>
            <p:ph idx="1" type="body"/>
          </p:nvPr>
        </p:nvSpPr>
        <p:spPr>
          <a:xfrm>
            <a:off x="457200" y="957600"/>
            <a:ext cx="8371200" cy="40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Increase the access and capacity of essential life services in underserved communities and better identify global health threats by improving diagnostic measures and the quality of preventative actions. </a:t>
            </a:r>
            <a:r>
              <a:rPr lang="en"/>
              <a:t>A socially sustainable system can ensure an adequate and equal distribution of social services such as health care, gender equality, &amp; political responsibility.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Key UN SDGs</a:t>
            </a:r>
            <a:r>
              <a:rPr lang="en"/>
              <a:t>: SDG 2: </a:t>
            </a:r>
            <a:r>
              <a:rPr b="1" lang="en" u="sng">
                <a:solidFill>
                  <a:schemeClr val="accent5"/>
                </a:solidFill>
                <a:hlinkClick r:id="rId3">
                  <a:extLst>
                    <a:ext uri="{A12FA001-AC4F-418D-AE19-62706E023703}">
                      <ahyp:hlinkClr val="tx"/>
                    </a:ext>
                  </a:extLst>
                </a:hlinkClick>
              </a:rPr>
              <a:t>Zero Hunger</a:t>
            </a:r>
            <a:r>
              <a:rPr lang="en"/>
              <a:t>, SDG 3: </a:t>
            </a:r>
            <a:r>
              <a:rPr b="1" lang="en" u="sng">
                <a:solidFill>
                  <a:schemeClr val="accent5"/>
                </a:solidFill>
                <a:hlinkClick r:id="rId4">
                  <a:extLst>
                    <a:ext uri="{A12FA001-AC4F-418D-AE19-62706E023703}">
                      <ahyp:hlinkClr val="tx"/>
                    </a:ext>
                  </a:extLst>
                </a:hlinkClick>
              </a:rPr>
              <a:t>Good Health &amp; Well-Being</a:t>
            </a:r>
            <a:r>
              <a:rPr lang="en"/>
              <a:t>, SDG 6: </a:t>
            </a:r>
            <a:r>
              <a:rPr b="1" lang="en" u="sng">
                <a:solidFill>
                  <a:schemeClr val="accent5"/>
                </a:solidFill>
                <a:hlinkClick r:id="rId5">
                  <a:extLst>
                    <a:ext uri="{A12FA001-AC4F-418D-AE19-62706E023703}">
                      <ahyp:hlinkClr val="tx"/>
                    </a:ext>
                  </a:extLst>
                </a:hlinkClick>
              </a:rPr>
              <a:t>Clean Water &amp; Sanitation</a:t>
            </a:r>
            <a:r>
              <a:rPr lang="en"/>
              <a:t>, SDG 16: </a:t>
            </a:r>
            <a:r>
              <a:rPr b="1" lang="en" u="sng">
                <a:solidFill>
                  <a:schemeClr val="accent5"/>
                </a:solidFill>
                <a:hlinkClick r:id="rId6">
                  <a:extLst>
                    <a:ext uri="{A12FA001-AC4F-418D-AE19-62706E023703}">
                      <ahyp:hlinkClr val="tx"/>
                    </a:ext>
                  </a:extLst>
                </a:hlinkClick>
              </a:rPr>
              <a:t>Peace, Justice, Strong Institutions</a:t>
            </a:r>
            <a:endParaRPr/>
          </a:p>
          <a:p>
            <a:pPr indent="0" lvl="0" marL="0" rtl="0" algn="l">
              <a:lnSpc>
                <a:spcPct val="115000"/>
              </a:lnSpc>
              <a:spcBef>
                <a:spcPts val="0"/>
              </a:spcBef>
              <a:spcAft>
                <a:spcPts val="0"/>
              </a:spcAft>
              <a:buNone/>
            </a:pPr>
            <a:r>
              <a:t/>
            </a:r>
            <a:endParaRPr b="1"/>
          </a:p>
          <a:p>
            <a:pPr indent="0" lvl="0" marL="0" rtl="0" algn="l">
              <a:spcBef>
                <a:spcPts val="1200"/>
              </a:spcBef>
              <a:spcAft>
                <a:spcPts val="0"/>
              </a:spcAft>
              <a:buNone/>
            </a:pPr>
            <a:r>
              <a:t/>
            </a:r>
            <a:endParaRPr b="1">
              <a:solidFill>
                <a:srgbClr val="595959"/>
              </a:solidFill>
              <a:latin typeface="Arial"/>
              <a:ea typeface="Arial"/>
              <a:cs typeface="Arial"/>
              <a:sym typeface="Arial"/>
            </a:endParaRPr>
          </a:p>
          <a:p>
            <a:pPr indent="0" lvl="0" marL="0" rtl="0" algn="l">
              <a:lnSpc>
                <a:spcPct val="100000"/>
              </a:lnSpc>
              <a:spcBef>
                <a:spcPts val="1200"/>
              </a:spcBef>
              <a:spcAft>
                <a:spcPts val="0"/>
              </a:spcAft>
              <a:buNone/>
            </a:pPr>
            <a:r>
              <a:t/>
            </a:r>
            <a:endParaRPr b="1"/>
          </a:p>
          <a:p>
            <a:pPr indent="0" lvl="0" marL="0" rtl="0" algn="l">
              <a:lnSpc>
                <a:spcPct val="115000"/>
              </a:lnSpc>
              <a:spcBef>
                <a:spcPts val="0"/>
              </a:spcBef>
              <a:spcAft>
                <a:spcPts val="0"/>
              </a:spcAft>
              <a:buNone/>
            </a:pPr>
            <a:r>
              <a:t/>
            </a:r>
            <a:endParaRPr/>
          </a:p>
        </p:txBody>
      </p:sp>
      <p:cxnSp>
        <p:nvCxnSpPr>
          <p:cNvPr id="231" name="Google Shape;231;p32"/>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pic>
        <p:nvPicPr>
          <p:cNvPr id="232" name="Google Shape;232;p32"/>
          <p:cNvPicPr preferRelativeResize="0"/>
          <p:nvPr/>
        </p:nvPicPr>
        <p:blipFill rotWithShape="1">
          <a:blip r:embed="rId7">
            <a:alphaModFix/>
          </a:blip>
          <a:srcRect b="0" l="39056" r="34607" t="0"/>
          <a:stretch/>
        </p:blipFill>
        <p:spPr>
          <a:xfrm>
            <a:off x="457201" y="2892200"/>
            <a:ext cx="2319877" cy="1676800"/>
          </a:xfrm>
          <a:prstGeom prst="rect">
            <a:avLst/>
          </a:prstGeom>
          <a:noFill/>
          <a:ln>
            <a:noFill/>
          </a:ln>
        </p:spPr>
      </p:pic>
      <p:sp>
        <p:nvSpPr>
          <p:cNvPr id="233" name="Google Shape;233;p32"/>
          <p:cNvSpPr txBox="1"/>
          <p:nvPr/>
        </p:nvSpPr>
        <p:spPr>
          <a:xfrm>
            <a:off x="2777075" y="2972175"/>
            <a:ext cx="32292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u="sng">
                <a:solidFill>
                  <a:schemeClr val="dk2"/>
                </a:solidFill>
                <a:latin typeface="Poppins"/>
                <a:ea typeface="Poppins"/>
                <a:cs typeface="Poppins"/>
                <a:sym typeface="Poppins"/>
              </a:rPr>
              <a:t>Subthemes</a:t>
            </a:r>
            <a:r>
              <a:rPr lang="en">
                <a:solidFill>
                  <a:schemeClr val="dk2"/>
                </a:solidFill>
                <a:latin typeface="Poppins"/>
                <a:ea typeface="Poppins"/>
                <a:cs typeface="Poppins"/>
                <a:sym typeface="Poppins"/>
              </a:rPr>
              <a:t>:</a:t>
            </a:r>
            <a:r>
              <a:rPr b="1" lang="en">
                <a:solidFill>
                  <a:schemeClr val="dk2"/>
                </a:solidFill>
                <a:latin typeface="Poppins"/>
                <a:ea typeface="Poppins"/>
                <a:cs typeface="Poppins"/>
                <a:sym typeface="Poppins"/>
              </a:rPr>
              <a:t> </a:t>
            </a:r>
            <a:endParaRPr b="1">
              <a:solidFill>
                <a:schemeClr val="dk2"/>
              </a:solidFill>
              <a:latin typeface="Poppins"/>
              <a:ea typeface="Poppins"/>
              <a:cs typeface="Poppins"/>
              <a:sym typeface="Poppins"/>
            </a:endParaRPr>
          </a:p>
          <a:p>
            <a:pPr indent="-317500" lvl="0" marL="457200" rtl="0" algn="l">
              <a:lnSpc>
                <a:spcPct val="115000"/>
              </a:lnSpc>
              <a:spcBef>
                <a:spcPts val="1200"/>
              </a:spcBef>
              <a:spcAft>
                <a:spcPts val="0"/>
              </a:spcAft>
              <a:buClr>
                <a:schemeClr val="dk2"/>
              </a:buClr>
              <a:buSzPts val="1400"/>
              <a:buFont typeface="Poppins"/>
              <a:buChar char="●"/>
            </a:pPr>
            <a:r>
              <a:rPr lang="en">
                <a:solidFill>
                  <a:schemeClr val="dk2"/>
                </a:solidFill>
                <a:latin typeface="Poppins"/>
                <a:ea typeface="Poppins"/>
                <a:cs typeface="Poppins"/>
                <a:sym typeface="Poppins"/>
              </a:rPr>
              <a:t>Global Food Systems</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Sanitation</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Valuing Water</a:t>
            </a:r>
            <a:endParaRPr>
              <a:solidFill>
                <a:schemeClr val="dk2"/>
              </a:solidFill>
              <a:latin typeface="Poppins"/>
              <a:ea typeface="Poppins"/>
              <a:cs typeface="Poppins"/>
              <a:sym typeface="Poppins"/>
            </a:endParaRPr>
          </a:p>
        </p:txBody>
      </p:sp>
      <p:sp>
        <p:nvSpPr>
          <p:cNvPr id="234" name="Google Shape;234;p32"/>
          <p:cNvSpPr txBox="1"/>
          <p:nvPr/>
        </p:nvSpPr>
        <p:spPr>
          <a:xfrm>
            <a:off x="5154775" y="3348425"/>
            <a:ext cx="40224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2"/>
              </a:buClr>
              <a:buSzPts val="1400"/>
              <a:buFont typeface="Poppins"/>
              <a:buChar char="●"/>
            </a:pPr>
            <a:r>
              <a:rPr lang="en">
                <a:solidFill>
                  <a:schemeClr val="dk2"/>
                </a:solidFill>
                <a:latin typeface="Poppins"/>
                <a:ea typeface="Poppins"/>
                <a:cs typeface="Poppins"/>
                <a:sym typeface="Poppins"/>
              </a:rPr>
              <a:t>Access to Healthcare</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Inequality and U</a:t>
            </a:r>
            <a:r>
              <a:rPr lang="en">
                <a:solidFill>
                  <a:schemeClr val="dk2"/>
                </a:solidFill>
                <a:latin typeface="Poppins"/>
                <a:ea typeface="Poppins"/>
                <a:cs typeface="Poppins"/>
                <a:sym typeface="Poppins"/>
              </a:rPr>
              <a:t>neven Development</a:t>
            </a:r>
            <a:endParaRPr>
              <a:solidFill>
                <a:schemeClr val="dk2"/>
              </a:solidFill>
              <a:latin typeface="Poppins"/>
              <a:ea typeface="Poppins"/>
              <a:cs typeface="Poppins"/>
              <a:sym typeface="Poppins"/>
            </a:endParaRPr>
          </a:p>
          <a:p>
            <a:pPr indent="-317500" lvl="0" marL="457200" rtl="0" algn="l">
              <a:lnSpc>
                <a:spcPct val="115000"/>
              </a:lnSpc>
              <a:spcBef>
                <a:spcPts val="0"/>
              </a:spcBef>
              <a:spcAft>
                <a:spcPts val="0"/>
              </a:spcAft>
              <a:buClr>
                <a:schemeClr val="dk2"/>
              </a:buClr>
              <a:buSzPts val="1400"/>
              <a:buFont typeface="Poppins"/>
              <a:buChar char="●"/>
            </a:pPr>
            <a:r>
              <a:rPr lang="en">
                <a:solidFill>
                  <a:schemeClr val="dk2"/>
                </a:solidFill>
                <a:latin typeface="Poppins"/>
                <a:ea typeface="Poppins"/>
                <a:cs typeface="Poppins"/>
                <a:sym typeface="Poppins"/>
              </a:rPr>
              <a:t>Humanitarianism &amp; Conflict</a:t>
            </a:r>
            <a:endParaRPr>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p:nvPr/>
        </p:nvSpPr>
        <p:spPr>
          <a:xfrm>
            <a:off x="4759200" y="685463"/>
            <a:ext cx="4256700" cy="3922575"/>
          </a:xfrm>
          <a:prstGeom prst="flowChartProcess">
            <a:avLst/>
          </a:prstGeom>
          <a:solidFill>
            <a:srgbClr val="F1B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3"/>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Overview</a:t>
            </a:r>
            <a:endParaRPr/>
          </a:p>
        </p:txBody>
      </p:sp>
      <p:sp>
        <p:nvSpPr>
          <p:cNvPr id="241" name="Google Shape;241;p3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3"/>
          <p:cNvSpPr txBox="1"/>
          <p:nvPr/>
        </p:nvSpPr>
        <p:spPr>
          <a:xfrm>
            <a:off x="496625" y="3117925"/>
            <a:ext cx="37803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solidFill>
                <a:schemeClr val="dk2"/>
              </a:solidFill>
              <a:latin typeface="Poppins"/>
              <a:ea typeface="Poppins"/>
              <a:cs typeface="Poppins"/>
              <a:sym typeface="Poppins"/>
            </a:endParaRPr>
          </a:p>
          <a:p>
            <a:pPr indent="0" lvl="0" marL="0" rtl="0" algn="l">
              <a:lnSpc>
                <a:spcPct val="115000"/>
              </a:lnSpc>
              <a:spcBef>
                <a:spcPts val="1200"/>
              </a:spcBef>
              <a:spcAft>
                <a:spcPts val="1200"/>
              </a:spcAft>
              <a:buNone/>
            </a:pPr>
            <a:r>
              <a:rPr lang="en">
                <a:solidFill>
                  <a:schemeClr val="accent1"/>
                </a:solidFill>
                <a:latin typeface="Poppins"/>
                <a:ea typeface="Poppins"/>
                <a:cs typeface="Poppins"/>
                <a:sym typeface="Poppins"/>
              </a:rPr>
              <a:t>How can we offer health care solutions for everyone? How can we urgently respond to the important challenges already occurring?</a:t>
            </a:r>
            <a:endParaRPr>
              <a:solidFill>
                <a:schemeClr val="accent1"/>
              </a:solidFill>
            </a:endParaRPr>
          </a:p>
        </p:txBody>
      </p:sp>
      <p:sp>
        <p:nvSpPr>
          <p:cNvPr id="243" name="Google Shape;243;p33"/>
          <p:cNvSpPr/>
          <p:nvPr/>
        </p:nvSpPr>
        <p:spPr>
          <a:xfrm>
            <a:off x="4920013" y="906113"/>
            <a:ext cx="3935075" cy="3481300"/>
          </a:xfrm>
          <a:prstGeom prst="flowChartProcess">
            <a:avLst/>
          </a:prstGeom>
          <a:solidFill>
            <a:srgbClr val="F5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33"/>
          <p:cNvPicPr preferRelativeResize="0"/>
          <p:nvPr/>
        </p:nvPicPr>
        <p:blipFill>
          <a:blip r:embed="rId3">
            <a:alphaModFix/>
          </a:blip>
          <a:stretch>
            <a:fillRect/>
          </a:stretch>
        </p:blipFill>
        <p:spPr>
          <a:xfrm>
            <a:off x="4920025" y="1371611"/>
            <a:ext cx="3935073" cy="2622738"/>
          </a:xfrm>
          <a:prstGeom prst="rect">
            <a:avLst/>
          </a:prstGeom>
          <a:noFill/>
          <a:ln>
            <a:noFill/>
          </a:ln>
        </p:spPr>
      </p:pic>
      <p:sp>
        <p:nvSpPr>
          <p:cNvPr id="245" name="Google Shape;245;p33"/>
          <p:cNvSpPr txBox="1"/>
          <p:nvPr/>
        </p:nvSpPr>
        <p:spPr>
          <a:xfrm>
            <a:off x="496625" y="1085225"/>
            <a:ext cx="41580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latin typeface="Poppins"/>
                <a:ea typeface="Poppins"/>
                <a:cs typeface="Poppins"/>
                <a:sym typeface="Poppins"/>
              </a:rPr>
              <a:t>Global Health and Humanity covers how to better identify global health threats by improving diagnostic measures and the quality of preventative action. This goes beyond pandemics and includes subjects from maternal health, to tropical diseases, political unrest, vaccination and mental health, education and training of medical staff, and inequality and access barriers. </a:t>
            </a:r>
            <a:endParaRPr/>
          </a:p>
        </p:txBody>
      </p:sp>
      <p:cxnSp>
        <p:nvCxnSpPr>
          <p:cNvPr id="246" name="Google Shape;246;p33"/>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nvSpPr>
        <p:spPr>
          <a:xfrm>
            <a:off x="457200" y="445025"/>
            <a:ext cx="8229600" cy="64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200">
                <a:solidFill>
                  <a:srgbClr val="333333"/>
                </a:solidFill>
                <a:latin typeface="Poppins Medium"/>
                <a:ea typeface="Poppins Medium"/>
                <a:cs typeface="Poppins Medium"/>
                <a:sym typeface="Poppins Medium"/>
              </a:rPr>
              <a:t>UN </a:t>
            </a:r>
            <a:r>
              <a:rPr lang="en" sz="2200">
                <a:solidFill>
                  <a:srgbClr val="333333"/>
                </a:solidFill>
                <a:latin typeface="Poppins Medium"/>
                <a:ea typeface="Poppins Medium"/>
                <a:cs typeface="Poppins Medium"/>
                <a:sym typeface="Poppins Medium"/>
              </a:rPr>
              <a:t>SDGs</a:t>
            </a:r>
            <a:endParaRPr sz="2200">
              <a:solidFill>
                <a:srgbClr val="333333"/>
              </a:solidFill>
              <a:latin typeface="Poppins Medium"/>
              <a:ea typeface="Poppins Medium"/>
              <a:cs typeface="Poppins Medium"/>
              <a:sym typeface="Poppins Medium"/>
            </a:endParaRPr>
          </a:p>
        </p:txBody>
      </p:sp>
      <p:sp>
        <p:nvSpPr>
          <p:cNvPr id="252" name="Google Shape;252;p34"/>
          <p:cNvSpPr txBox="1"/>
          <p:nvPr/>
        </p:nvSpPr>
        <p:spPr>
          <a:xfrm>
            <a:off x="8212926" y="4663225"/>
            <a:ext cx="4740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900">
                <a:solidFill>
                  <a:srgbClr val="595959"/>
                </a:solidFill>
                <a:latin typeface="Poppins"/>
                <a:ea typeface="Poppins"/>
                <a:cs typeface="Poppins"/>
                <a:sym typeface="Poppins"/>
              </a:rPr>
              <a:t>‹#›</a:t>
            </a:fld>
            <a:endParaRPr sz="900">
              <a:solidFill>
                <a:srgbClr val="595959"/>
              </a:solidFill>
              <a:latin typeface="Poppins"/>
              <a:ea typeface="Poppins"/>
              <a:cs typeface="Poppins"/>
              <a:sym typeface="Poppins"/>
            </a:endParaRPr>
          </a:p>
        </p:txBody>
      </p:sp>
      <p:sp>
        <p:nvSpPr>
          <p:cNvPr id="253" name="Google Shape;253;p34"/>
          <p:cNvSpPr txBox="1"/>
          <p:nvPr/>
        </p:nvSpPr>
        <p:spPr>
          <a:xfrm>
            <a:off x="457200" y="1576875"/>
            <a:ext cx="3854400" cy="182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1200"/>
              </a:spcAft>
              <a:buNone/>
            </a:pPr>
            <a:r>
              <a:rPr lang="en">
                <a:solidFill>
                  <a:srgbClr val="595959"/>
                </a:solidFill>
                <a:latin typeface="Poppins"/>
                <a:ea typeface="Poppins"/>
                <a:cs typeface="Poppins"/>
                <a:sym typeface="Poppins"/>
              </a:rPr>
              <a:t>Achieve</a:t>
            </a:r>
            <a:r>
              <a:rPr lang="en">
                <a:solidFill>
                  <a:srgbClr val="595959"/>
                </a:solidFill>
                <a:latin typeface="Poppins"/>
                <a:ea typeface="Poppins"/>
                <a:cs typeface="Poppins"/>
                <a:sym typeface="Poppins"/>
              </a:rPr>
              <a:t> food security for all people everywhere in the world.</a:t>
            </a:r>
            <a:endParaRPr>
              <a:solidFill>
                <a:srgbClr val="595959"/>
              </a:solidFill>
              <a:latin typeface="Poppins"/>
              <a:ea typeface="Poppins"/>
              <a:cs typeface="Poppins"/>
              <a:sym typeface="Poppins"/>
            </a:endParaRPr>
          </a:p>
        </p:txBody>
      </p:sp>
      <p:sp>
        <p:nvSpPr>
          <p:cNvPr id="254" name="Google Shape;254;p34"/>
          <p:cNvSpPr txBox="1"/>
          <p:nvPr/>
        </p:nvSpPr>
        <p:spPr>
          <a:xfrm>
            <a:off x="460575" y="2742426"/>
            <a:ext cx="3854400" cy="151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a:solidFill>
                  <a:srgbClr val="595959"/>
                </a:solidFill>
                <a:latin typeface="Poppins"/>
                <a:ea typeface="Poppins"/>
                <a:cs typeface="Poppins"/>
                <a:sym typeface="Poppins"/>
              </a:rPr>
              <a:t>The pandemic has halted or reversed progress in healthcare and shortened life expectancy. The goal is to ensure healthy lives and promote well-being for all at all ages.</a:t>
            </a:r>
            <a:endParaRPr>
              <a:solidFill>
                <a:srgbClr val="595959"/>
              </a:solidFill>
              <a:latin typeface="Poppins"/>
              <a:ea typeface="Poppins"/>
              <a:cs typeface="Poppins"/>
              <a:sym typeface="Poppins"/>
            </a:endParaRPr>
          </a:p>
          <a:p>
            <a:pPr indent="0" lvl="0" marL="0" rtl="0" algn="l">
              <a:lnSpc>
                <a:spcPct val="115000"/>
              </a:lnSpc>
              <a:spcBef>
                <a:spcPts val="1200"/>
              </a:spcBef>
              <a:spcAft>
                <a:spcPts val="1200"/>
              </a:spcAft>
              <a:buNone/>
            </a:pPr>
            <a:r>
              <a:t/>
            </a:r>
            <a:endParaRPr sz="1200">
              <a:solidFill>
                <a:srgbClr val="595959"/>
              </a:solidFill>
              <a:latin typeface="Poppins"/>
              <a:ea typeface="Poppins"/>
              <a:cs typeface="Poppins"/>
              <a:sym typeface="Poppins"/>
            </a:endParaRPr>
          </a:p>
        </p:txBody>
      </p:sp>
      <p:sp>
        <p:nvSpPr>
          <p:cNvPr id="255" name="Google Shape;255;p34"/>
          <p:cNvSpPr txBox="1"/>
          <p:nvPr/>
        </p:nvSpPr>
        <p:spPr>
          <a:xfrm>
            <a:off x="456075" y="1236163"/>
            <a:ext cx="3858900" cy="27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#2: Zero Hunger</a:t>
            </a:r>
            <a:endParaRPr sz="1600">
              <a:solidFill>
                <a:srgbClr val="F1BC00"/>
              </a:solidFill>
              <a:latin typeface="Poppins"/>
              <a:ea typeface="Poppins"/>
              <a:cs typeface="Poppins"/>
              <a:sym typeface="Poppins"/>
            </a:endParaRPr>
          </a:p>
        </p:txBody>
      </p:sp>
      <p:sp>
        <p:nvSpPr>
          <p:cNvPr id="256" name="Google Shape;256;p34"/>
          <p:cNvSpPr txBox="1"/>
          <p:nvPr/>
        </p:nvSpPr>
        <p:spPr>
          <a:xfrm>
            <a:off x="456075" y="2352063"/>
            <a:ext cx="3858900" cy="27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#3: Good Health &amp; Well Being</a:t>
            </a:r>
            <a:endParaRPr sz="1600">
              <a:solidFill>
                <a:srgbClr val="F1BC00"/>
              </a:solidFill>
              <a:latin typeface="Poppins"/>
              <a:ea typeface="Poppins"/>
              <a:cs typeface="Poppins"/>
              <a:sym typeface="Poppins"/>
            </a:endParaRPr>
          </a:p>
        </p:txBody>
      </p:sp>
      <p:sp>
        <p:nvSpPr>
          <p:cNvPr id="257" name="Google Shape;257;p34"/>
          <p:cNvSpPr txBox="1"/>
          <p:nvPr/>
        </p:nvSpPr>
        <p:spPr>
          <a:xfrm>
            <a:off x="4832400" y="1510076"/>
            <a:ext cx="3854400" cy="131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1200"/>
              </a:spcAft>
              <a:buNone/>
            </a:pPr>
            <a:r>
              <a:rPr lang="en">
                <a:solidFill>
                  <a:srgbClr val="595959"/>
                </a:solidFill>
                <a:latin typeface="Poppins"/>
                <a:ea typeface="Poppins"/>
                <a:cs typeface="Poppins"/>
                <a:sym typeface="Poppins"/>
              </a:rPr>
              <a:t>U</a:t>
            </a:r>
            <a:r>
              <a:rPr lang="en">
                <a:solidFill>
                  <a:srgbClr val="595959"/>
                </a:solidFill>
                <a:latin typeface="Poppins"/>
                <a:ea typeface="Poppins"/>
                <a:cs typeface="Poppins"/>
                <a:sym typeface="Poppins"/>
              </a:rPr>
              <a:t>niversal and equitable access to safe and affordable drinking water and clean sanitation</a:t>
            </a:r>
            <a:endParaRPr>
              <a:solidFill>
                <a:srgbClr val="595959"/>
              </a:solidFill>
              <a:latin typeface="Poppins"/>
              <a:ea typeface="Poppins"/>
              <a:cs typeface="Poppins"/>
              <a:sym typeface="Poppins"/>
            </a:endParaRPr>
          </a:p>
        </p:txBody>
      </p:sp>
      <p:sp>
        <p:nvSpPr>
          <p:cNvPr id="258" name="Google Shape;258;p34"/>
          <p:cNvSpPr txBox="1"/>
          <p:nvPr/>
        </p:nvSpPr>
        <p:spPr>
          <a:xfrm>
            <a:off x="4830150" y="1236163"/>
            <a:ext cx="3858900" cy="27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#6: Clean Water &amp; Sanitation</a:t>
            </a:r>
            <a:endParaRPr sz="1600">
              <a:solidFill>
                <a:srgbClr val="F1BC00"/>
              </a:solidFill>
              <a:latin typeface="Poppins"/>
              <a:ea typeface="Poppins"/>
              <a:cs typeface="Poppins"/>
              <a:sym typeface="Poppins"/>
            </a:endParaRPr>
          </a:p>
        </p:txBody>
      </p:sp>
      <p:sp>
        <p:nvSpPr>
          <p:cNvPr id="259" name="Google Shape;259;p34"/>
          <p:cNvSpPr txBox="1"/>
          <p:nvPr/>
        </p:nvSpPr>
        <p:spPr>
          <a:xfrm>
            <a:off x="4832400" y="2625975"/>
            <a:ext cx="4530000" cy="2739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200"/>
              </a:spcAft>
              <a:buNone/>
            </a:pPr>
            <a:r>
              <a:rPr lang="en" sz="1600">
                <a:solidFill>
                  <a:srgbClr val="F1BC00"/>
                </a:solidFill>
                <a:latin typeface="Poppins"/>
                <a:ea typeface="Poppins"/>
                <a:cs typeface="Poppins"/>
                <a:sym typeface="Poppins"/>
              </a:rPr>
              <a:t>#16: Peace, Justice, and Strong Institutions</a:t>
            </a:r>
            <a:endParaRPr sz="1600">
              <a:solidFill>
                <a:srgbClr val="F1BC00"/>
              </a:solidFill>
              <a:latin typeface="Poppins"/>
              <a:ea typeface="Poppins"/>
              <a:cs typeface="Poppins"/>
              <a:sym typeface="Poppins"/>
            </a:endParaRPr>
          </a:p>
        </p:txBody>
      </p:sp>
      <p:sp>
        <p:nvSpPr>
          <p:cNvPr id="260" name="Google Shape;260;p34"/>
          <p:cNvSpPr txBox="1"/>
          <p:nvPr/>
        </p:nvSpPr>
        <p:spPr>
          <a:xfrm>
            <a:off x="4832400" y="3038222"/>
            <a:ext cx="3854400" cy="121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a:solidFill>
                  <a:srgbClr val="595959"/>
                </a:solidFill>
                <a:latin typeface="Poppins"/>
                <a:ea typeface="Poppins"/>
                <a:cs typeface="Poppins"/>
                <a:sym typeface="Poppins"/>
              </a:rPr>
              <a:t>Significantly reduce all forms of violence and address </a:t>
            </a:r>
            <a:r>
              <a:rPr lang="en">
                <a:solidFill>
                  <a:schemeClr val="dk2"/>
                </a:solidFill>
                <a:latin typeface="Poppins"/>
                <a:ea typeface="Poppins"/>
                <a:cs typeface="Poppins"/>
                <a:sym typeface="Poppins"/>
              </a:rPr>
              <a:t>conflict, insecurity, weak institutions and limited access to justice that remain a great threat to sustainable development. </a:t>
            </a:r>
            <a:endParaRPr>
              <a:solidFill>
                <a:srgbClr val="595959"/>
              </a:solidFill>
              <a:latin typeface="Poppins"/>
              <a:ea typeface="Poppins"/>
              <a:cs typeface="Poppins"/>
              <a:sym typeface="Poppins"/>
            </a:endParaRPr>
          </a:p>
          <a:p>
            <a:pPr indent="0" lvl="0" marL="0" rtl="0" algn="l">
              <a:lnSpc>
                <a:spcPct val="115000"/>
              </a:lnSpc>
              <a:spcBef>
                <a:spcPts val="1200"/>
              </a:spcBef>
              <a:spcAft>
                <a:spcPts val="1200"/>
              </a:spcAft>
              <a:buNone/>
            </a:pPr>
            <a:r>
              <a:t/>
            </a:r>
            <a:endParaRPr sz="1200">
              <a:solidFill>
                <a:srgbClr val="595959"/>
              </a:solidFill>
              <a:latin typeface="Poppins"/>
              <a:ea typeface="Poppins"/>
              <a:cs typeface="Poppins"/>
              <a:sym typeface="Poppins"/>
            </a:endParaRPr>
          </a:p>
        </p:txBody>
      </p:sp>
      <p:cxnSp>
        <p:nvCxnSpPr>
          <p:cNvPr id="261" name="Google Shape;261;p34"/>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457200" y="1046175"/>
            <a:ext cx="7752300" cy="250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Subthemes</a:t>
            </a:r>
            <a:endParaRPr/>
          </a:p>
        </p:txBody>
      </p:sp>
      <p:sp>
        <p:nvSpPr>
          <p:cNvPr id="267" name="Google Shape;267;p3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457200" y="18306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Global Food Systems</a:t>
            </a:r>
            <a:endParaRPr b="1">
              <a:latin typeface="Poppins"/>
              <a:ea typeface="Poppins"/>
              <a:cs typeface="Poppins"/>
              <a:sym typeface="Poppins"/>
            </a:endParaRPr>
          </a:p>
        </p:txBody>
      </p:sp>
      <p:sp>
        <p:nvSpPr>
          <p:cNvPr id="273" name="Google Shape;273;p36"/>
          <p:cNvSpPr txBox="1"/>
          <p:nvPr>
            <p:ph idx="1" type="body"/>
          </p:nvPr>
        </p:nvSpPr>
        <p:spPr>
          <a:xfrm>
            <a:off x="3656925" y="448050"/>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t>“</a:t>
            </a:r>
            <a:r>
              <a:rPr i="1" lang="en" sz="1200">
                <a:solidFill>
                  <a:srgbClr val="454545"/>
                </a:solidFill>
              </a:rPr>
              <a:t>Food is life. But in countries, communities and households in every corner of the world, this essential need – this human right – is going unfulfilled. Every day, hundreds of millions of people go to bed hungry. Children are starving. Three billion people cannot afford a healthy diet. And nearly one-third of all food that is produced is lost or wasted.</a:t>
            </a:r>
            <a:r>
              <a:rPr lang="en" sz="1200">
                <a:solidFill>
                  <a:srgbClr val="454545"/>
                </a:solidFill>
              </a:rPr>
              <a:t> </a:t>
            </a:r>
            <a:r>
              <a:rPr lang="en" sz="1200"/>
              <a:t>- Ant</a:t>
            </a:r>
            <a:r>
              <a:rPr lang="en" sz="1200">
                <a:solidFill>
                  <a:srgbClr val="454545"/>
                </a:solidFill>
              </a:rPr>
              <a:t>ónio Guterres, United Nations Secretary General</a:t>
            </a:r>
            <a:endParaRPr sz="1200"/>
          </a:p>
          <a:p>
            <a:pPr indent="0" lvl="0" marL="0" rtl="0" algn="l">
              <a:spcBef>
                <a:spcPts val="1200"/>
              </a:spcBef>
              <a:spcAft>
                <a:spcPts val="0"/>
              </a:spcAft>
              <a:buNone/>
            </a:pPr>
            <a:r>
              <a:rPr b="1" lang="en" sz="1200"/>
              <a:t>Global Food Systems</a:t>
            </a:r>
            <a:r>
              <a:rPr b="1" lang="en" sz="1200"/>
              <a:t>: </a:t>
            </a:r>
            <a:r>
              <a:rPr lang="en" sz="1200">
                <a:solidFill>
                  <a:srgbClr val="595959"/>
                </a:solidFill>
              </a:rPr>
              <a:t> The term “food systems” refers to all the elements and activities related to producing and consuming food, and their effects, including economic, health, and environmental outcomes. (</a:t>
            </a:r>
            <a:r>
              <a:rPr lang="en" sz="1200">
                <a:solidFill>
                  <a:schemeClr val="accent5"/>
                </a:solidFill>
                <a:uFill>
                  <a:noFill/>
                </a:uFill>
                <a:hlinkClick r:id="rId3">
                  <a:extLst>
                    <a:ext uri="{A12FA001-AC4F-418D-AE19-62706E023703}">
                      <ahyp:hlinkClr val="tx"/>
                    </a:ext>
                  </a:extLst>
                </a:hlinkClick>
              </a:rPr>
              <a:t>OECD</a:t>
            </a:r>
            <a:r>
              <a:rPr lang="en" sz="1200">
                <a:solidFill>
                  <a:srgbClr val="595959"/>
                </a:solidFill>
              </a:rPr>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595959"/>
                </a:solidFill>
              </a:rPr>
              <a:t>“33% of fish stocks are overfished; 60% are maximally sustainably fished;  90% of fish used for feed could be eaten by humans.”</a:t>
            </a:r>
            <a:r>
              <a:rPr lang="en" sz="1200">
                <a:solidFill>
                  <a:srgbClr val="454444"/>
                </a:solidFill>
              </a:rPr>
              <a:t> </a:t>
            </a:r>
            <a:r>
              <a:rPr lang="en" sz="1200"/>
              <a:t>(</a:t>
            </a:r>
            <a:r>
              <a:rPr lang="en" sz="1200" u="sng">
                <a:solidFill>
                  <a:schemeClr val="hlink"/>
                </a:solidFill>
                <a:hlinkClick r:id="rId4"/>
              </a:rPr>
              <a:t>IPCC</a:t>
            </a:r>
            <a:r>
              <a:rPr lang="en" sz="1200"/>
              <a:t>)</a:t>
            </a:r>
            <a:endParaRPr sz="1200"/>
          </a:p>
          <a:p>
            <a:pPr indent="0" lvl="0" marL="0" marR="292100" rtl="0" algn="l">
              <a:spcBef>
                <a:spcPts val="0"/>
              </a:spcBef>
              <a:spcAft>
                <a:spcPts val="0"/>
              </a:spcAft>
              <a:buNone/>
            </a:pPr>
            <a:r>
              <a:t/>
            </a:r>
            <a:endParaRPr b="1" sz="1200">
              <a:solidFill>
                <a:schemeClr val="accent1"/>
              </a:solidFill>
            </a:endParaRPr>
          </a:p>
          <a:p>
            <a:pPr indent="0" lvl="0" marL="0" marR="292100" rtl="0" algn="l">
              <a:spcBef>
                <a:spcPts val="600"/>
              </a:spcBef>
              <a:spcAft>
                <a:spcPts val="0"/>
              </a:spcAft>
              <a:buNone/>
            </a:pPr>
            <a:r>
              <a:rPr b="1" lang="en" sz="1200">
                <a:solidFill>
                  <a:schemeClr val="accent1"/>
                </a:solidFill>
              </a:rPr>
              <a:t>See  Modern Technological Innovations</a:t>
            </a:r>
            <a:endParaRPr b="1" sz="1200"/>
          </a:p>
          <a:p>
            <a:pPr indent="-304800" lvl="0" marL="457200" rtl="0" algn="l">
              <a:spcBef>
                <a:spcPts val="600"/>
              </a:spcBef>
              <a:spcAft>
                <a:spcPts val="0"/>
              </a:spcAft>
              <a:buClr>
                <a:schemeClr val="accent5"/>
              </a:buClr>
              <a:buSzPts val="1200"/>
              <a:buChar char="●"/>
            </a:pPr>
            <a:r>
              <a:rPr lang="en" sz="1200" u="sng">
                <a:solidFill>
                  <a:schemeClr val="accent5"/>
                </a:solidFill>
                <a:hlinkClick r:id="rId5">
                  <a:extLst>
                    <a:ext uri="{A12FA001-AC4F-418D-AE19-62706E023703}">
                      <ahyp:hlinkClr val="tx"/>
                    </a:ext>
                  </a:extLst>
                </a:hlinkClick>
              </a:rPr>
              <a:t>Most recent changes in organizations of global food systems</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6">
                  <a:extLst>
                    <a:ext uri="{A12FA001-AC4F-418D-AE19-62706E023703}">
                      <ahyp:hlinkClr val="tx"/>
                    </a:ext>
                  </a:extLst>
                </a:hlinkClick>
              </a:rPr>
              <a:t>Sustainable Food Systems</a:t>
            </a:r>
            <a:endParaRPr sz="1200">
              <a:solidFill>
                <a:schemeClr val="accent5"/>
              </a:solidFill>
            </a:endParaRPr>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t/>
            </a:r>
            <a:endParaRPr sz="1200"/>
          </a:p>
        </p:txBody>
      </p:sp>
      <p:sp>
        <p:nvSpPr>
          <p:cNvPr id="274" name="Google Shape;274;p3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6"/>
          <p:cNvSpPr txBox="1"/>
          <p:nvPr>
            <p:ph idx="4294967295" type="subTitle"/>
          </p:nvPr>
        </p:nvSpPr>
        <p:spPr>
          <a:xfrm>
            <a:off x="3656925"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Global Food Systems </a:t>
            </a:r>
            <a:endParaRPr sz="1200">
              <a:solidFill>
                <a:schemeClr val="lt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type="title"/>
          </p:nvPr>
        </p:nvSpPr>
        <p:spPr>
          <a:xfrm>
            <a:off x="457200" y="18306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Access to Healthcare</a:t>
            </a:r>
            <a:endParaRPr b="1">
              <a:latin typeface="Poppins"/>
              <a:ea typeface="Poppins"/>
              <a:cs typeface="Poppins"/>
              <a:sym typeface="Poppins"/>
            </a:endParaRPr>
          </a:p>
        </p:txBody>
      </p:sp>
      <p:sp>
        <p:nvSpPr>
          <p:cNvPr id="281" name="Google Shape;281;p37"/>
          <p:cNvSpPr txBox="1"/>
          <p:nvPr>
            <p:ph idx="1" type="body"/>
          </p:nvPr>
        </p:nvSpPr>
        <p:spPr>
          <a:xfrm>
            <a:off x="3674675" y="445025"/>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t>“</a:t>
            </a:r>
            <a:r>
              <a:rPr i="1" lang="en" sz="1200">
                <a:highlight>
                  <a:schemeClr val="lt1"/>
                </a:highlight>
              </a:rPr>
              <a:t>Adequate healthcare access not only requires the availability of comprehensive healthcare facilities but also affordability and knowledge of the availability of these </a:t>
            </a:r>
            <a:r>
              <a:rPr lang="en" sz="1200">
                <a:solidFill>
                  <a:srgbClr val="595959"/>
                </a:solidFill>
              </a:rPr>
              <a:t>services. As an extended responsibility, healthcare providers can create mech</a:t>
            </a:r>
            <a:r>
              <a:rPr i="1" lang="en" sz="1200">
                <a:highlight>
                  <a:schemeClr val="lt1"/>
                </a:highlight>
              </a:rPr>
              <a:t>anisms to facilitate subjective decision-making in accessing the right kind of healthcare services as well various options to support financial needs</a:t>
            </a:r>
            <a:r>
              <a:rPr i="1" lang="en" sz="1200">
                <a:highlight>
                  <a:schemeClr val="lt1"/>
                </a:highlight>
              </a:rPr>
              <a:t>.</a:t>
            </a:r>
            <a:r>
              <a:rPr i="1" lang="en" sz="1200">
                <a:solidFill>
                  <a:srgbClr val="454545"/>
                </a:solidFill>
                <a:highlight>
                  <a:schemeClr val="lt1"/>
                </a:highlight>
              </a:rPr>
              <a:t>”</a:t>
            </a:r>
            <a:r>
              <a:rPr i="1" lang="en" sz="1200">
                <a:solidFill>
                  <a:srgbClr val="454545"/>
                </a:solidFill>
              </a:rPr>
              <a:t> </a:t>
            </a:r>
            <a:r>
              <a:rPr lang="en" sz="1200"/>
              <a:t>- Amit Agarwal, AIIMS</a:t>
            </a:r>
            <a:endParaRPr sz="1200"/>
          </a:p>
          <a:p>
            <a:pPr indent="0" lvl="0" marL="0" rtl="0" algn="l">
              <a:spcBef>
                <a:spcPts val="1200"/>
              </a:spcBef>
              <a:spcAft>
                <a:spcPts val="0"/>
              </a:spcAft>
              <a:buNone/>
            </a:pPr>
            <a:r>
              <a:rPr b="1" lang="en" sz="1200"/>
              <a:t>Access to Healthcare:</a:t>
            </a:r>
            <a:r>
              <a:rPr lang="en" sz="1200">
                <a:solidFill>
                  <a:srgbClr val="3C4245"/>
                </a:solidFill>
              </a:rPr>
              <a:t> At least four aspects require evaluation for access: If services are available and there is an adequate supply of services, then the opportunity to obtain health care exists, and a population may 'have access' to services.</a:t>
            </a:r>
            <a:r>
              <a:rPr lang="en" sz="1200">
                <a:solidFill>
                  <a:srgbClr val="212121"/>
                </a:solidFill>
                <a:highlight>
                  <a:srgbClr val="FFFFFF"/>
                </a:highlight>
              </a:rPr>
              <a:t> </a:t>
            </a:r>
            <a:r>
              <a:rPr lang="en" sz="1200"/>
              <a:t>(</a:t>
            </a:r>
            <a:r>
              <a:rPr lang="en" sz="1200" u="sng">
                <a:solidFill>
                  <a:schemeClr val="hlink"/>
                </a:solidFill>
                <a:hlinkClick r:id="rId3"/>
              </a:rPr>
              <a:t>Pubmed.gov</a:t>
            </a:r>
            <a:r>
              <a:rPr lang="en" sz="1200"/>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454444"/>
                </a:solidFill>
              </a:rPr>
              <a:t>“</a:t>
            </a:r>
            <a:r>
              <a:rPr lang="en" sz="1200">
                <a:solidFill>
                  <a:srgbClr val="3C4245"/>
                </a:solidFill>
              </a:rPr>
              <a:t>At least half of the world’s population cannot obtain essential health services.And each year, large numbers of households are being pushed into poverty because they must pay for health care out of their own pockets.</a:t>
            </a:r>
            <a:r>
              <a:rPr lang="en" sz="1200">
                <a:solidFill>
                  <a:srgbClr val="454444"/>
                </a:solidFill>
              </a:rPr>
              <a:t>” </a:t>
            </a:r>
            <a:r>
              <a:rPr lang="en" sz="1200"/>
              <a:t>(</a:t>
            </a:r>
            <a:r>
              <a:rPr lang="en" sz="1200" u="sng">
                <a:solidFill>
                  <a:schemeClr val="hlink"/>
                </a:solidFill>
                <a:hlinkClick r:id="rId4"/>
              </a:rPr>
              <a:t>WHO</a:t>
            </a:r>
            <a:r>
              <a:rPr lang="en" sz="1200"/>
              <a:t>)</a:t>
            </a:r>
            <a:endParaRPr sz="1200"/>
          </a:p>
          <a:p>
            <a:pPr indent="0" lvl="0" marL="0" marR="292100" rtl="0" algn="l">
              <a:spcBef>
                <a:spcPts val="1200"/>
              </a:spcBef>
              <a:spcAft>
                <a:spcPts val="0"/>
              </a:spcAft>
              <a:buNone/>
            </a:pPr>
            <a:r>
              <a:rPr b="1" lang="en" sz="1200">
                <a:solidFill>
                  <a:schemeClr val="accent1"/>
                </a:solidFill>
              </a:rPr>
              <a:t>See  Modern Technological Innovations</a:t>
            </a:r>
            <a:endParaRPr b="1" sz="1200"/>
          </a:p>
          <a:p>
            <a:pPr indent="-304800" lvl="0" marL="457200" rtl="0" algn="l">
              <a:spcBef>
                <a:spcPts val="600"/>
              </a:spcBef>
              <a:spcAft>
                <a:spcPts val="0"/>
              </a:spcAft>
              <a:buClr>
                <a:schemeClr val="accent5"/>
              </a:buClr>
              <a:buSzPts val="1200"/>
              <a:buChar char="●"/>
            </a:pPr>
            <a:r>
              <a:rPr lang="en" sz="1200" u="sng">
                <a:solidFill>
                  <a:schemeClr val="accent5"/>
                </a:solidFill>
                <a:hlinkClick r:id="rId5">
                  <a:extLst>
                    <a:ext uri="{A12FA001-AC4F-418D-AE19-62706E023703}">
                      <ahyp:hlinkClr val="tx"/>
                    </a:ext>
                  </a:extLst>
                </a:hlinkClick>
              </a:rPr>
              <a:t>Universal Health Coverage</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6">
                  <a:extLst>
                    <a:ext uri="{A12FA001-AC4F-418D-AE19-62706E023703}">
                      <ahyp:hlinkClr val="tx"/>
                    </a:ext>
                  </a:extLst>
                </a:hlinkClick>
              </a:rPr>
              <a:t>Health in Africa Initiative</a:t>
            </a:r>
            <a:endParaRPr sz="1200"/>
          </a:p>
        </p:txBody>
      </p:sp>
      <p:sp>
        <p:nvSpPr>
          <p:cNvPr id="282" name="Google Shape;282;p3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37"/>
          <p:cNvSpPr txBox="1"/>
          <p:nvPr>
            <p:ph idx="4294967295" type="subTitle"/>
          </p:nvPr>
        </p:nvSpPr>
        <p:spPr>
          <a:xfrm>
            <a:off x="3674675" y="535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Access to Health Care </a:t>
            </a:r>
            <a:endParaRPr sz="120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type="title"/>
          </p:nvPr>
        </p:nvSpPr>
        <p:spPr>
          <a:xfrm>
            <a:off x="457200" y="18306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Sanitation</a:t>
            </a:r>
            <a:endParaRPr b="1">
              <a:latin typeface="Poppins"/>
              <a:ea typeface="Poppins"/>
              <a:cs typeface="Poppins"/>
              <a:sym typeface="Poppins"/>
            </a:endParaRPr>
          </a:p>
        </p:txBody>
      </p:sp>
      <p:sp>
        <p:nvSpPr>
          <p:cNvPr id="289" name="Google Shape;289;p38"/>
          <p:cNvSpPr txBox="1"/>
          <p:nvPr>
            <p:ph idx="1" type="body"/>
          </p:nvPr>
        </p:nvSpPr>
        <p:spPr>
          <a:xfrm>
            <a:off x="3665800" y="445025"/>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highlight>
                  <a:schemeClr val="lt1"/>
                </a:highlight>
              </a:rPr>
              <a:t>“The links between lack of water and sanitation access and the development goals are clear, and the solutions to the problem are known and cost-effective. </a:t>
            </a:r>
            <a:r>
              <a:rPr i="1" lang="en" sz="1200">
                <a:highlight>
                  <a:schemeClr val="lt1"/>
                </a:highlight>
                <a:uFill>
                  <a:noFill/>
                </a:uFill>
                <a:hlinkClick r:id="rId3"/>
              </a:rPr>
              <a:t>A 2012 WHO study</a:t>
            </a:r>
            <a:r>
              <a:rPr i="1" lang="en" sz="1200">
                <a:highlight>
                  <a:schemeClr val="lt1"/>
                </a:highlight>
              </a:rPr>
              <a:t> shows that every US $1 invested in improved sanitation translates into an average global economic return of US $5.5.” – UN Water Report</a:t>
            </a:r>
            <a:endParaRPr sz="1200"/>
          </a:p>
          <a:p>
            <a:pPr indent="0" lvl="0" marL="0" rtl="0" algn="l">
              <a:spcBef>
                <a:spcPts val="1200"/>
              </a:spcBef>
              <a:spcAft>
                <a:spcPts val="0"/>
              </a:spcAft>
              <a:buNone/>
            </a:pPr>
            <a:r>
              <a:rPr b="1" lang="en" sz="1200"/>
              <a:t>Renewable Energy: </a:t>
            </a:r>
            <a:r>
              <a:rPr lang="en" sz="1200">
                <a:solidFill>
                  <a:srgbClr val="595959"/>
                </a:solidFill>
              </a:rPr>
              <a:t>Sanitation generally refers to the provision of facilities and services for the safe disposal of human urine and feces.</a:t>
            </a:r>
            <a:r>
              <a:rPr lang="en" sz="1200">
                <a:solidFill>
                  <a:schemeClr val="dk1"/>
                </a:solidFill>
                <a:highlight>
                  <a:srgbClr val="FFFFFF"/>
                </a:highlight>
              </a:rPr>
              <a:t> </a:t>
            </a:r>
            <a:r>
              <a:rPr lang="en" sz="1200"/>
              <a:t>(</a:t>
            </a:r>
            <a:r>
              <a:rPr lang="en" sz="1200" u="sng">
                <a:solidFill>
                  <a:schemeClr val="hlink"/>
                </a:solidFill>
                <a:hlinkClick r:id="rId4"/>
              </a:rPr>
              <a:t>World Bank DataBank</a:t>
            </a:r>
            <a:r>
              <a:rPr lang="en" sz="1200"/>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595959"/>
                </a:solidFill>
              </a:rPr>
              <a:t>“3.6 billion people, nearly half the world’s population, do not have access to safely managed sanitation in their home. Of those, 1.9 billion people live with </a:t>
            </a:r>
            <a:r>
              <a:rPr lang="en" sz="1200" u="sng">
                <a:solidFill>
                  <a:schemeClr val="hlink"/>
                </a:solidFill>
                <a:hlinkClick r:id="rId5"/>
              </a:rPr>
              <a:t>basic sanitation services,</a:t>
            </a:r>
            <a:r>
              <a:rPr lang="en" sz="1200">
                <a:solidFill>
                  <a:srgbClr val="595959"/>
                </a:solidFill>
              </a:rPr>
              <a:t> and 494 million people practice open defecation.”</a:t>
            </a:r>
            <a:r>
              <a:rPr lang="en" sz="1200">
                <a:solidFill>
                  <a:srgbClr val="075290"/>
                </a:solidFill>
              </a:rPr>
              <a:t> </a:t>
            </a:r>
            <a:r>
              <a:rPr lang="en" sz="1200"/>
              <a:t>(</a:t>
            </a:r>
            <a:r>
              <a:rPr lang="en" sz="1200" u="sng">
                <a:solidFill>
                  <a:schemeClr val="hlink"/>
                </a:solidFill>
                <a:hlinkClick r:id="rId6"/>
              </a:rPr>
              <a:t>CDC</a:t>
            </a:r>
            <a:r>
              <a:rPr lang="en" sz="1200"/>
              <a:t>)</a:t>
            </a:r>
            <a:endParaRPr sz="1200"/>
          </a:p>
          <a:p>
            <a:pPr indent="0" lvl="0" marL="0" marR="292100" rtl="0" algn="l">
              <a:spcBef>
                <a:spcPts val="1200"/>
              </a:spcBef>
              <a:spcAft>
                <a:spcPts val="0"/>
              </a:spcAft>
              <a:buNone/>
            </a:pPr>
            <a:r>
              <a:rPr b="1" lang="en" sz="1200">
                <a:solidFill>
                  <a:schemeClr val="accent1"/>
                </a:solidFill>
              </a:rPr>
              <a:t>See  Modern Technological Innovations</a:t>
            </a:r>
            <a:endParaRPr b="1" sz="1200">
              <a:solidFill>
                <a:schemeClr val="accent1"/>
              </a:solidFill>
            </a:endParaRPr>
          </a:p>
          <a:p>
            <a:pPr indent="-304800" lvl="0" marL="457200" rtl="0" algn="l">
              <a:spcBef>
                <a:spcPts val="600"/>
              </a:spcBef>
              <a:spcAft>
                <a:spcPts val="0"/>
              </a:spcAft>
              <a:buClr>
                <a:schemeClr val="accent5"/>
              </a:buClr>
              <a:buSzPts val="1200"/>
              <a:buChar char="●"/>
            </a:pPr>
            <a:r>
              <a:rPr lang="en" sz="1200" u="sng">
                <a:solidFill>
                  <a:schemeClr val="accent5"/>
                </a:solidFill>
                <a:hlinkClick r:id="rId7">
                  <a:extLst>
                    <a:ext uri="{A12FA001-AC4F-418D-AE19-62706E023703}">
                      <ahyp:hlinkClr val="tx"/>
                    </a:ext>
                  </a:extLst>
                </a:hlinkClick>
              </a:rPr>
              <a:t>Lack of adequate sanitation</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8">
                  <a:extLst>
                    <a:ext uri="{A12FA001-AC4F-418D-AE19-62706E023703}">
                      <ahyp:hlinkClr val="tx"/>
                    </a:ext>
                  </a:extLst>
                </a:hlinkClick>
              </a:rPr>
              <a:t>New technologies in sanitation</a:t>
            </a:r>
            <a:endParaRPr sz="1200"/>
          </a:p>
        </p:txBody>
      </p:sp>
      <p:sp>
        <p:nvSpPr>
          <p:cNvPr id="290" name="Google Shape;290;p3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38"/>
          <p:cNvSpPr txBox="1"/>
          <p:nvPr>
            <p:ph idx="4294967295" type="subTitle"/>
          </p:nvPr>
        </p:nvSpPr>
        <p:spPr>
          <a:xfrm>
            <a:off x="3665800" y="53575"/>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Sanitation</a:t>
            </a:r>
            <a:endParaRPr sz="1200">
              <a:solidFill>
                <a:schemeClr val="l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type="title"/>
          </p:nvPr>
        </p:nvSpPr>
        <p:spPr>
          <a:xfrm>
            <a:off x="457200" y="18306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Inequality and Uneven Development</a:t>
            </a:r>
            <a:endParaRPr b="1">
              <a:latin typeface="Poppins"/>
              <a:ea typeface="Poppins"/>
              <a:cs typeface="Poppins"/>
              <a:sym typeface="Poppins"/>
            </a:endParaRPr>
          </a:p>
        </p:txBody>
      </p:sp>
      <p:sp>
        <p:nvSpPr>
          <p:cNvPr id="297" name="Google Shape;297;p39"/>
          <p:cNvSpPr txBox="1"/>
          <p:nvPr>
            <p:ph idx="1" type="body"/>
          </p:nvPr>
        </p:nvSpPr>
        <p:spPr>
          <a:xfrm>
            <a:off x="3648050" y="445025"/>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highlight>
                  <a:schemeClr val="lt1"/>
                </a:highlight>
              </a:rPr>
              <a:t>“People at the lower end of the spectrum have particularly been left behind. We haven’t done a good job growing our economy. That would’ve fixed a lot of that problem.” - Jamie Dimon, CEO of JP Morgan Chase</a:t>
            </a:r>
            <a:endParaRPr i="1" sz="1200"/>
          </a:p>
          <a:p>
            <a:pPr indent="0" lvl="0" marL="0" rtl="0" algn="l">
              <a:spcBef>
                <a:spcPts val="1200"/>
              </a:spcBef>
              <a:spcAft>
                <a:spcPts val="0"/>
              </a:spcAft>
              <a:buNone/>
            </a:pPr>
            <a:r>
              <a:rPr b="1" lang="en" sz="1200"/>
              <a:t>Inequality and Uneven Development:</a:t>
            </a:r>
            <a:r>
              <a:rPr lang="en" sz="1200">
                <a:solidFill>
                  <a:srgbClr val="595959"/>
                </a:solidFill>
              </a:rPr>
              <a:t> Inequality is a complex concept and is difficult to measure. Excessive inequality can erode social cohesion, lead to political polarization. Inequality can be viewed from different perspectives, all of which are related. Most common metric is Income Inequality, which refers to the extent to which income is evenly distributed within a population. </a:t>
            </a:r>
            <a:r>
              <a:rPr lang="en" sz="1200">
                <a:solidFill>
                  <a:srgbClr val="212121"/>
                </a:solidFill>
                <a:highlight>
                  <a:srgbClr val="FFFFFF"/>
                </a:highlight>
              </a:rPr>
              <a:t> </a:t>
            </a:r>
            <a:r>
              <a:rPr lang="en" sz="1200"/>
              <a:t>(</a:t>
            </a:r>
            <a:r>
              <a:rPr lang="en" sz="1200" u="sng">
                <a:solidFill>
                  <a:schemeClr val="hlink"/>
                </a:solidFill>
                <a:hlinkClick r:id="rId3"/>
              </a:rPr>
              <a:t>IMF</a:t>
            </a:r>
            <a:r>
              <a:rPr lang="en" sz="1200"/>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595959"/>
                </a:solidFill>
              </a:rPr>
              <a:t>“Oxfam has calculated that to amass even a fifth of the average fortune of the world’s five richest billionaires, you would need to have saved $10,000 a day since the building of the pyramids in Egypt.”</a:t>
            </a:r>
            <a:r>
              <a:rPr lang="en" sz="1200">
                <a:solidFill>
                  <a:srgbClr val="000000"/>
                </a:solidFill>
                <a:latin typeface="Arial"/>
                <a:ea typeface="Arial"/>
                <a:cs typeface="Arial"/>
                <a:sym typeface="Arial"/>
              </a:rPr>
              <a:t> </a:t>
            </a:r>
            <a:r>
              <a:rPr lang="en" sz="1200"/>
              <a:t>(</a:t>
            </a:r>
            <a:r>
              <a:rPr lang="en" sz="1200" u="sng">
                <a:solidFill>
                  <a:schemeClr val="hlink"/>
                </a:solidFill>
                <a:hlinkClick r:id="rId4"/>
              </a:rPr>
              <a:t>Oxfam</a:t>
            </a:r>
            <a:r>
              <a:rPr lang="en" sz="1200"/>
              <a:t>)</a:t>
            </a:r>
            <a:br>
              <a:rPr lang="en" sz="1200"/>
            </a:br>
            <a:endParaRPr sz="1200"/>
          </a:p>
          <a:p>
            <a:pPr indent="0" lvl="0" marL="0" marR="292100" rtl="0" algn="l">
              <a:spcBef>
                <a:spcPts val="0"/>
              </a:spcBef>
              <a:spcAft>
                <a:spcPts val="0"/>
              </a:spcAft>
              <a:buNone/>
            </a:pPr>
            <a:r>
              <a:rPr b="1" lang="en" sz="1200">
                <a:solidFill>
                  <a:schemeClr val="accent1"/>
                </a:solidFill>
              </a:rPr>
              <a:t>See  Modern Technological Innovations</a:t>
            </a:r>
            <a:endParaRPr b="1" sz="1200"/>
          </a:p>
          <a:p>
            <a:pPr indent="-304800" lvl="0" marL="457200" rtl="0" algn="l">
              <a:spcBef>
                <a:spcPts val="600"/>
              </a:spcBef>
              <a:spcAft>
                <a:spcPts val="0"/>
              </a:spcAft>
              <a:buClr>
                <a:schemeClr val="accent5"/>
              </a:buClr>
              <a:buSzPts val="1200"/>
              <a:buChar char="●"/>
            </a:pPr>
            <a:r>
              <a:rPr lang="en" sz="1200" u="sng">
                <a:solidFill>
                  <a:schemeClr val="accent5"/>
                </a:solidFill>
                <a:hlinkClick r:id="rId5">
                  <a:extLst>
                    <a:ext uri="{A12FA001-AC4F-418D-AE19-62706E023703}">
                      <ahyp:hlinkClr val="tx"/>
                    </a:ext>
                  </a:extLst>
                </a:hlinkClick>
              </a:rPr>
              <a:t>How to pay for universal basic income</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6">
                  <a:extLst>
                    <a:ext uri="{A12FA001-AC4F-418D-AE19-62706E023703}">
                      <ahyp:hlinkClr val="tx"/>
                    </a:ext>
                  </a:extLst>
                </a:hlinkClick>
              </a:rPr>
              <a:t>Economic growth that is distributed</a:t>
            </a:r>
            <a:endParaRPr sz="1200"/>
          </a:p>
          <a:p>
            <a:pPr indent="0" lvl="0" marL="0" rtl="0" algn="l">
              <a:spcBef>
                <a:spcPts val="1200"/>
              </a:spcBef>
              <a:spcAft>
                <a:spcPts val="1200"/>
              </a:spcAft>
              <a:buNone/>
            </a:pPr>
            <a:r>
              <a:t/>
            </a:r>
            <a:endParaRPr sz="1200"/>
          </a:p>
        </p:txBody>
      </p:sp>
      <p:sp>
        <p:nvSpPr>
          <p:cNvPr id="298" name="Google Shape;298;p3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39"/>
          <p:cNvSpPr txBox="1"/>
          <p:nvPr>
            <p:ph idx="4294967295" type="subTitle"/>
          </p:nvPr>
        </p:nvSpPr>
        <p:spPr>
          <a:xfrm>
            <a:off x="3648050" y="9150"/>
            <a:ext cx="51021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Inequality and uneven development </a:t>
            </a:r>
            <a:endParaRPr sz="1200">
              <a:solidFill>
                <a:schemeClr val="l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type="title"/>
          </p:nvPr>
        </p:nvSpPr>
        <p:spPr>
          <a:xfrm>
            <a:off x="457200" y="18306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Valuing Water</a:t>
            </a:r>
            <a:endParaRPr b="1">
              <a:latin typeface="Poppins"/>
              <a:ea typeface="Poppins"/>
              <a:cs typeface="Poppins"/>
              <a:sym typeface="Poppins"/>
            </a:endParaRPr>
          </a:p>
        </p:txBody>
      </p:sp>
      <p:sp>
        <p:nvSpPr>
          <p:cNvPr id="305" name="Google Shape;305;p40"/>
          <p:cNvSpPr txBox="1"/>
          <p:nvPr>
            <p:ph idx="1" type="body"/>
          </p:nvPr>
        </p:nvSpPr>
        <p:spPr>
          <a:xfrm>
            <a:off x="3656925" y="448050"/>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highlight>
                  <a:schemeClr val="lt1"/>
                </a:highlight>
              </a:rPr>
              <a:t>“Recognizing, measuring and expressing water’s worth, and incorporating it into decision-making, are fundamental to achieving sustainable and equitable water resources management.” - United Nations Report</a:t>
            </a:r>
            <a:endParaRPr sz="1200"/>
          </a:p>
          <a:p>
            <a:pPr indent="0" lvl="0" marL="0" rtl="0" algn="l">
              <a:spcBef>
                <a:spcPts val="1200"/>
              </a:spcBef>
              <a:spcAft>
                <a:spcPts val="0"/>
              </a:spcAft>
              <a:buNone/>
            </a:pPr>
            <a:r>
              <a:rPr b="1" lang="en" sz="1200"/>
              <a:t>Valuing Water: </a:t>
            </a:r>
            <a:r>
              <a:rPr lang="en" sz="1200">
                <a:solidFill>
                  <a:srgbClr val="595959"/>
                </a:solidFill>
              </a:rPr>
              <a:t> Valuing water means recognizing and considering all the diverse benefits and risks provided by water, and encompassing its economic, social, and ecological dimensions as well as its diverse cultural and. religious meanings. </a:t>
            </a:r>
            <a:r>
              <a:rPr lang="en" sz="1200"/>
              <a:t>(</a:t>
            </a:r>
            <a:r>
              <a:rPr lang="en" sz="1200" u="sng">
                <a:solidFill>
                  <a:schemeClr val="hlink"/>
                </a:solidFill>
                <a:hlinkClick r:id="rId3"/>
              </a:rPr>
              <a:t>Sustainable Development Knowledge Platform</a:t>
            </a:r>
            <a:r>
              <a:rPr lang="en" sz="1200"/>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595959"/>
                </a:solidFill>
              </a:rPr>
              <a:t>“The average family can waste 180 gallons per week, or 9,400 gallons of water annually, from household leaks. That's equivalent to the amount of water needed to wash more than 300 loads of laundry. Household leaks can waste approximately nearly 900 billion gallons of water annually nationwide.” </a:t>
            </a:r>
            <a:r>
              <a:rPr lang="en" sz="1200"/>
              <a:t>(</a:t>
            </a:r>
            <a:r>
              <a:rPr lang="en" sz="1200" u="sng">
                <a:solidFill>
                  <a:schemeClr val="hlink"/>
                </a:solidFill>
                <a:hlinkClick r:id="rId4"/>
              </a:rPr>
              <a:t>US EPA</a:t>
            </a:r>
            <a:r>
              <a:rPr lang="en" sz="1200"/>
              <a:t>)</a:t>
            </a:r>
            <a:endParaRPr sz="1200"/>
          </a:p>
          <a:p>
            <a:pPr indent="0" lvl="0" marL="0" rtl="0" algn="l">
              <a:spcBef>
                <a:spcPts val="800"/>
              </a:spcBef>
              <a:spcAft>
                <a:spcPts val="0"/>
              </a:spcAft>
              <a:buNone/>
            </a:pPr>
            <a:r>
              <a:t/>
            </a:r>
            <a:endParaRPr sz="1200"/>
          </a:p>
          <a:p>
            <a:pPr indent="0" lvl="0" marL="0" marR="292100" rtl="0" algn="l">
              <a:spcBef>
                <a:spcPts val="0"/>
              </a:spcBef>
              <a:spcAft>
                <a:spcPts val="0"/>
              </a:spcAft>
              <a:buNone/>
            </a:pPr>
            <a:r>
              <a:rPr b="1" lang="en" sz="1200">
                <a:solidFill>
                  <a:schemeClr val="accent1"/>
                </a:solidFill>
              </a:rPr>
              <a:t>See  Modern Technological Innovations</a:t>
            </a:r>
            <a:endParaRPr b="1" sz="1200"/>
          </a:p>
          <a:p>
            <a:pPr indent="-304800" lvl="0" marL="457200" rtl="0" algn="l">
              <a:spcBef>
                <a:spcPts val="600"/>
              </a:spcBef>
              <a:spcAft>
                <a:spcPts val="0"/>
              </a:spcAft>
              <a:buClr>
                <a:schemeClr val="accent5"/>
              </a:buClr>
              <a:buSzPts val="1200"/>
              <a:buChar char="●"/>
            </a:pPr>
            <a:r>
              <a:rPr lang="en" sz="1200" u="sng">
                <a:solidFill>
                  <a:schemeClr val="accent5"/>
                </a:solidFill>
                <a:hlinkClick r:id="rId5">
                  <a:extLst>
                    <a:ext uri="{A12FA001-AC4F-418D-AE19-62706E023703}">
                      <ahyp:hlinkClr val="tx"/>
                    </a:ext>
                  </a:extLst>
                </a:hlinkClick>
              </a:rPr>
              <a:t>Right price can encourage efficiency in water</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6">
                  <a:extLst>
                    <a:ext uri="{A12FA001-AC4F-418D-AE19-62706E023703}">
                      <ahyp:hlinkClr val="tx"/>
                    </a:ext>
                  </a:extLst>
                </a:hlinkClick>
              </a:rPr>
              <a:t>Innovative Water Conservation in India</a:t>
            </a:r>
            <a:endParaRPr sz="1200"/>
          </a:p>
          <a:p>
            <a:pPr indent="0" lvl="0" marL="0" rtl="0" algn="l">
              <a:spcBef>
                <a:spcPts val="1200"/>
              </a:spcBef>
              <a:spcAft>
                <a:spcPts val="1200"/>
              </a:spcAft>
              <a:buNone/>
            </a:pPr>
            <a:r>
              <a:t/>
            </a:r>
            <a:endParaRPr sz="1200"/>
          </a:p>
        </p:txBody>
      </p:sp>
      <p:sp>
        <p:nvSpPr>
          <p:cNvPr id="306" name="Google Shape;306;p4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0"/>
          <p:cNvSpPr txBox="1"/>
          <p:nvPr>
            <p:ph idx="4294967295" type="subTitle"/>
          </p:nvPr>
        </p:nvSpPr>
        <p:spPr>
          <a:xfrm>
            <a:off x="3656925"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 Valuing Water </a:t>
            </a:r>
            <a:endParaRPr sz="12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txBox="1"/>
          <p:nvPr>
            <p:ph type="title"/>
          </p:nvPr>
        </p:nvSpPr>
        <p:spPr>
          <a:xfrm>
            <a:off x="457200" y="1830600"/>
            <a:ext cx="28176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Humanitarianism and Conflict</a:t>
            </a:r>
            <a:endParaRPr b="1">
              <a:latin typeface="Poppins"/>
              <a:ea typeface="Poppins"/>
              <a:cs typeface="Poppins"/>
              <a:sym typeface="Poppins"/>
            </a:endParaRPr>
          </a:p>
        </p:txBody>
      </p:sp>
      <p:sp>
        <p:nvSpPr>
          <p:cNvPr id="313" name="Google Shape;313;p41"/>
          <p:cNvSpPr txBox="1"/>
          <p:nvPr>
            <p:ph idx="1" type="body"/>
          </p:nvPr>
        </p:nvSpPr>
        <p:spPr>
          <a:xfrm>
            <a:off x="3656900" y="448050"/>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200">
                <a:highlight>
                  <a:schemeClr val="lt1"/>
                </a:highlight>
              </a:rPr>
              <a:t>“Underlining all humanitarian action are the principles of humanity, impartiality, neutrality and independence. These principles, derived from international humanitarian law, have been taken up by the United Nations in General Assembly Resolutions 46/182 and 58/114.” - UNHCR</a:t>
            </a:r>
            <a:endParaRPr sz="1200"/>
          </a:p>
          <a:p>
            <a:pPr indent="0" lvl="0" marL="0" rtl="0" algn="l">
              <a:spcBef>
                <a:spcPts val="1200"/>
              </a:spcBef>
              <a:spcAft>
                <a:spcPts val="0"/>
              </a:spcAft>
              <a:buNone/>
            </a:pPr>
            <a:r>
              <a:rPr b="1" lang="en" sz="1200"/>
              <a:t>Humanitarianism and Conflict:</a:t>
            </a:r>
            <a:r>
              <a:rPr lang="en" sz="1200">
                <a:highlight>
                  <a:schemeClr val="lt1"/>
                </a:highlight>
              </a:rPr>
              <a:t> </a:t>
            </a:r>
            <a:r>
              <a:rPr lang="en" sz="1200">
                <a:solidFill>
                  <a:srgbClr val="595959"/>
                </a:solidFill>
              </a:rPr>
              <a:t>Humanitarianism is at once a broad dedication to and belief in the fundamental value of human life. Though lacking an agreed definition, this central ethics of humanitarianism crosses cultures and history.</a:t>
            </a:r>
            <a:r>
              <a:rPr lang="en" sz="1200">
                <a:solidFill>
                  <a:srgbClr val="0C0C0C"/>
                </a:solidFill>
                <a:highlight>
                  <a:schemeClr val="lt1"/>
                </a:highlight>
              </a:rPr>
              <a:t> </a:t>
            </a:r>
            <a:r>
              <a:rPr lang="en" sz="1200">
                <a:solidFill>
                  <a:srgbClr val="212121"/>
                </a:solidFill>
                <a:highlight>
                  <a:schemeClr val="lt1"/>
                </a:highlight>
              </a:rPr>
              <a:t> </a:t>
            </a:r>
            <a:r>
              <a:rPr lang="en" sz="1200"/>
              <a:t>(</a:t>
            </a:r>
            <a:r>
              <a:rPr lang="en" sz="1200" u="sng">
                <a:solidFill>
                  <a:schemeClr val="hlink"/>
                </a:solidFill>
                <a:hlinkClick r:id="rId3"/>
              </a:rPr>
              <a:t>PHAP</a:t>
            </a:r>
            <a:r>
              <a:rPr lang="en" sz="1200"/>
              <a:t>)</a:t>
            </a:r>
            <a:endParaRPr sz="1200"/>
          </a:p>
          <a:p>
            <a:pPr indent="0" lvl="0" marL="0" rtl="0" algn="l">
              <a:spcBef>
                <a:spcPts val="1200"/>
              </a:spcBef>
              <a:spcAft>
                <a:spcPts val="0"/>
              </a:spcAft>
              <a:buNone/>
            </a:pPr>
            <a:r>
              <a:rPr b="1" lang="en" sz="1200"/>
              <a:t>Did you know?</a:t>
            </a:r>
            <a:endParaRPr b="1" sz="1200"/>
          </a:p>
          <a:p>
            <a:pPr indent="0" lvl="0" marL="0" rtl="0" algn="l">
              <a:spcBef>
                <a:spcPts val="1200"/>
              </a:spcBef>
              <a:spcAft>
                <a:spcPts val="0"/>
              </a:spcAft>
              <a:buNone/>
            </a:pPr>
            <a:r>
              <a:rPr lang="en" sz="1200">
                <a:solidFill>
                  <a:srgbClr val="595959"/>
                </a:solidFill>
              </a:rPr>
              <a:t>“The OCHA of the UN Secretariat is responsible for coordinating responses to emergencies through the </a:t>
            </a:r>
            <a:r>
              <a:rPr lang="en" sz="1200">
                <a:solidFill>
                  <a:srgbClr val="595959"/>
                </a:solidFill>
                <a:uFill>
                  <a:noFill/>
                </a:uFill>
                <a:hlinkClick r:id="rId4">
                  <a:extLst>
                    <a:ext uri="{A12FA001-AC4F-418D-AE19-62706E023703}">
                      <ahyp:hlinkClr val="tx"/>
                    </a:ext>
                  </a:extLst>
                </a:hlinkClick>
              </a:rPr>
              <a:t>Inter-Agency Standing Committee</a:t>
            </a:r>
            <a:r>
              <a:rPr lang="en" sz="1200">
                <a:solidFill>
                  <a:srgbClr val="595959"/>
                </a:solidFill>
              </a:rPr>
              <a:t>, that include the UN system entities most responsible for providing emergency relief.” </a:t>
            </a:r>
            <a:r>
              <a:rPr lang="en" sz="1200"/>
              <a:t>(</a:t>
            </a:r>
            <a:r>
              <a:rPr lang="en" sz="1200" u="sng">
                <a:solidFill>
                  <a:schemeClr val="hlink"/>
                </a:solidFill>
                <a:hlinkClick r:id="rId5"/>
              </a:rPr>
              <a:t>UN</a:t>
            </a:r>
            <a:r>
              <a:rPr lang="en" sz="1200"/>
              <a:t>)</a:t>
            </a:r>
            <a:endParaRPr sz="1200"/>
          </a:p>
          <a:p>
            <a:pPr indent="0" lvl="0" marL="0" rtl="0" algn="l">
              <a:spcBef>
                <a:spcPts val="800"/>
              </a:spcBef>
              <a:spcAft>
                <a:spcPts val="0"/>
              </a:spcAft>
              <a:buNone/>
            </a:pPr>
            <a:r>
              <a:t/>
            </a:r>
            <a:endParaRPr sz="1200"/>
          </a:p>
          <a:p>
            <a:pPr indent="0" lvl="0" marL="0" marR="292100" rtl="0" algn="l">
              <a:spcBef>
                <a:spcPts val="0"/>
              </a:spcBef>
              <a:spcAft>
                <a:spcPts val="0"/>
              </a:spcAft>
              <a:buNone/>
            </a:pPr>
            <a:r>
              <a:rPr b="1" lang="en" sz="1200">
                <a:solidFill>
                  <a:schemeClr val="accent1"/>
                </a:solidFill>
              </a:rPr>
              <a:t>See  Modern Technological Innovations</a:t>
            </a:r>
            <a:endParaRPr b="1" sz="1200"/>
          </a:p>
          <a:p>
            <a:pPr indent="-304800" lvl="0" marL="457200" rtl="0" algn="l">
              <a:spcBef>
                <a:spcPts val="600"/>
              </a:spcBef>
              <a:spcAft>
                <a:spcPts val="0"/>
              </a:spcAft>
              <a:buClr>
                <a:schemeClr val="accent5"/>
              </a:buClr>
              <a:buSzPts val="1200"/>
              <a:buChar char="●"/>
            </a:pPr>
            <a:r>
              <a:rPr lang="en" sz="1200" u="sng">
                <a:solidFill>
                  <a:schemeClr val="accent5"/>
                </a:solidFill>
                <a:hlinkClick r:id="rId6">
                  <a:extLst>
                    <a:ext uri="{A12FA001-AC4F-418D-AE19-62706E023703}">
                      <ahyp:hlinkClr val="tx"/>
                    </a:ext>
                  </a:extLst>
                </a:hlinkClick>
              </a:rPr>
              <a:t>Facts and Figure on humanitarian action</a:t>
            </a:r>
            <a:endParaRPr sz="1200">
              <a:solidFill>
                <a:schemeClr val="accent5"/>
              </a:solidFill>
            </a:endParaRPr>
          </a:p>
          <a:p>
            <a:pPr indent="-304800" lvl="0" marL="457200" rtl="0" algn="l">
              <a:spcBef>
                <a:spcPts val="0"/>
              </a:spcBef>
              <a:spcAft>
                <a:spcPts val="0"/>
              </a:spcAft>
              <a:buClr>
                <a:schemeClr val="accent5"/>
              </a:buClr>
              <a:buSzPts val="1200"/>
              <a:buChar char="●"/>
            </a:pPr>
            <a:r>
              <a:rPr lang="en" sz="1200" u="sng">
                <a:solidFill>
                  <a:schemeClr val="accent5"/>
                </a:solidFill>
                <a:hlinkClick r:id="rId7">
                  <a:extLst>
                    <a:ext uri="{A12FA001-AC4F-418D-AE19-62706E023703}">
                      <ahyp:hlinkClr val="tx"/>
                    </a:ext>
                  </a:extLst>
                </a:hlinkClick>
              </a:rPr>
              <a:t>Humanitarianism in Ukraine</a:t>
            </a:r>
            <a:endParaRPr sz="1200"/>
          </a:p>
          <a:p>
            <a:pPr indent="0" lvl="0" marL="0" rtl="0" algn="l">
              <a:spcBef>
                <a:spcPts val="1200"/>
              </a:spcBef>
              <a:spcAft>
                <a:spcPts val="1200"/>
              </a:spcAft>
              <a:buNone/>
            </a:pPr>
            <a:r>
              <a:t/>
            </a:r>
            <a:endParaRPr sz="1200"/>
          </a:p>
        </p:txBody>
      </p:sp>
      <p:sp>
        <p:nvSpPr>
          <p:cNvPr id="314" name="Google Shape;314;p4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41"/>
          <p:cNvSpPr txBox="1"/>
          <p:nvPr>
            <p:ph idx="4294967295" type="subTitle"/>
          </p:nvPr>
        </p:nvSpPr>
        <p:spPr>
          <a:xfrm>
            <a:off x="36569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Health &amp; Humanity: </a:t>
            </a:r>
            <a:r>
              <a:rPr lang="en" sz="1200">
                <a:solidFill>
                  <a:schemeClr val="lt2"/>
                </a:solidFill>
              </a:rPr>
              <a:t> Humanitarianism and Conflict</a:t>
            </a:r>
            <a:endParaRPr sz="1200">
              <a:solidFill>
                <a:schemeClr val="l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2"/>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Examples from Previous Hack the Globe Winners</a:t>
            </a:r>
            <a:endParaRPr/>
          </a:p>
        </p:txBody>
      </p:sp>
      <p:sp>
        <p:nvSpPr>
          <p:cNvPr id="321" name="Google Shape;321;p42"/>
          <p:cNvSpPr txBox="1"/>
          <p:nvPr>
            <p:ph idx="1" type="body"/>
          </p:nvPr>
        </p:nvSpPr>
        <p:spPr>
          <a:xfrm>
            <a:off x="457200" y="1645524"/>
            <a:ext cx="3854400" cy="925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An AI-powered portable medical records platform for refugees, enabling secure health data access and translation.</a:t>
            </a:r>
            <a:endParaRPr/>
          </a:p>
        </p:txBody>
      </p:sp>
      <p:sp>
        <p:nvSpPr>
          <p:cNvPr id="322" name="Google Shape;322;p42"/>
          <p:cNvSpPr txBox="1"/>
          <p:nvPr>
            <p:ph idx="2" type="body"/>
          </p:nvPr>
        </p:nvSpPr>
        <p:spPr>
          <a:xfrm>
            <a:off x="4832400" y="1645922"/>
            <a:ext cx="3854400" cy="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AI image-recognition tool assisting healthcare professionals in diagnosing skin conditions.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23" name="Google Shape;323;p4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2"/>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u="sng">
                <a:solidFill>
                  <a:schemeClr val="hlink"/>
                </a:solidFill>
                <a:hlinkClick r:id="rId3"/>
              </a:rPr>
              <a:t>https://globalspark.world/hacktheglobe</a:t>
            </a:r>
            <a:r>
              <a:rPr lang="en"/>
              <a:t> </a:t>
            </a:r>
            <a:endParaRPr/>
          </a:p>
        </p:txBody>
      </p:sp>
      <p:sp>
        <p:nvSpPr>
          <p:cNvPr id="325" name="Google Shape;325;p42"/>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Medi</a:t>
            </a:r>
            <a:r>
              <a:rPr lang="en"/>
              <a:t> (2025 – 1st Place)</a:t>
            </a:r>
            <a:endParaRPr/>
          </a:p>
        </p:txBody>
      </p:sp>
      <p:sp>
        <p:nvSpPr>
          <p:cNvPr id="326" name="Google Shape;326;p42"/>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DermaSpect (2021 – People’s Choice)</a:t>
            </a:r>
            <a:endParaRPr/>
          </a:p>
        </p:txBody>
      </p:sp>
      <p:pic>
        <p:nvPicPr>
          <p:cNvPr id="327" name="Google Shape;327;p42" title="husniati-salma-NfQVe57WoyU-unsplash.jpg"/>
          <p:cNvPicPr preferRelativeResize="0"/>
          <p:nvPr/>
        </p:nvPicPr>
        <p:blipFill>
          <a:blip r:embed="rId4">
            <a:alphaModFix/>
          </a:blip>
          <a:stretch>
            <a:fillRect/>
          </a:stretch>
        </p:blipFill>
        <p:spPr>
          <a:xfrm>
            <a:off x="457200" y="2435549"/>
            <a:ext cx="3390469" cy="2267376"/>
          </a:xfrm>
          <a:prstGeom prst="rect">
            <a:avLst/>
          </a:prstGeom>
          <a:noFill/>
          <a:ln>
            <a:noFill/>
          </a:ln>
        </p:spPr>
      </p:pic>
      <p:pic>
        <p:nvPicPr>
          <p:cNvPr id="328" name="Google Shape;328;p42" title="vitaly-gariev-6qN9yEK5k9U-unsplash.jpg"/>
          <p:cNvPicPr preferRelativeResize="0"/>
          <p:nvPr/>
        </p:nvPicPr>
        <p:blipFill>
          <a:blip r:embed="rId5">
            <a:alphaModFix/>
          </a:blip>
          <a:stretch>
            <a:fillRect/>
          </a:stretch>
        </p:blipFill>
        <p:spPr>
          <a:xfrm>
            <a:off x="4830150" y="2435750"/>
            <a:ext cx="3858899" cy="2266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lobal Spark">
  <a:themeElements>
    <a:clrScheme name="Simple Light">
      <a:dk1>
        <a:srgbClr val="333333"/>
      </a:dk1>
      <a:lt1>
        <a:srgbClr val="FAFAFA"/>
      </a:lt1>
      <a:dk2>
        <a:srgbClr val="595959"/>
      </a:dk2>
      <a:lt2>
        <a:srgbClr val="C4C4C4"/>
      </a:lt2>
      <a:accent1>
        <a:srgbClr val="F1BC00"/>
      </a:accent1>
      <a:accent2>
        <a:srgbClr val="EEC945"/>
      </a:accent2>
      <a:accent3>
        <a:srgbClr val="FBEDB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