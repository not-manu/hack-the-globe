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Poppins"/>
      <p:regular r:id="rId24"/>
      <p:bold r:id="rId25"/>
      <p:italic r:id="rId26"/>
      <p:boldItalic r:id="rId27"/>
    </p:embeddedFont>
    <p:embeddedFont>
      <p:font typeface="Poppins Medium"/>
      <p:regular r:id="rId28"/>
      <p:bold r:id="rId29"/>
      <p:italic r:id="rId30"/>
      <p:boldItalic r:id="rId31"/>
    </p:embeddedFont>
    <p:embeddedFont>
      <p:font typeface="Poppins SemiBold"/>
      <p:regular r:id="rId32"/>
      <p:bold r:id="rId33"/>
      <p:italic r:id="rId34"/>
      <p:boldItalic r:id="rId35"/>
    </p:embeddedFont>
    <p:embeddedFont>
      <p:font typeface="Century Gothic"/>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oppins-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italic.fntdata"/><Relationship Id="rId25" Type="http://schemas.openxmlformats.org/officeDocument/2006/relationships/font" Target="fonts/Poppins-bold.fntdata"/><Relationship Id="rId28" Type="http://schemas.openxmlformats.org/officeDocument/2006/relationships/font" Target="fonts/PoppinsMedium-regular.fntdata"/><Relationship Id="rId27" Type="http://schemas.openxmlformats.org/officeDocument/2006/relationships/font" Target="fonts/Poppi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Medium-boldItalic.fntdata"/><Relationship Id="rId30" Type="http://schemas.openxmlformats.org/officeDocument/2006/relationships/font" Target="fonts/PoppinsMedium-italic.fntdata"/><Relationship Id="rId11" Type="http://schemas.openxmlformats.org/officeDocument/2006/relationships/slide" Target="slides/slide6.xml"/><Relationship Id="rId33" Type="http://schemas.openxmlformats.org/officeDocument/2006/relationships/font" Target="fonts/PoppinsSemiBold-bold.fntdata"/><Relationship Id="rId10" Type="http://schemas.openxmlformats.org/officeDocument/2006/relationships/slide" Target="slides/slide5.xml"/><Relationship Id="rId32" Type="http://schemas.openxmlformats.org/officeDocument/2006/relationships/font" Target="fonts/PoppinsSemiBold-regular.fntdata"/><Relationship Id="rId13" Type="http://schemas.openxmlformats.org/officeDocument/2006/relationships/slide" Target="slides/slide8.xml"/><Relationship Id="rId35" Type="http://schemas.openxmlformats.org/officeDocument/2006/relationships/font" Target="fonts/PoppinsSemiBold-boldItalic.fntdata"/><Relationship Id="rId12" Type="http://schemas.openxmlformats.org/officeDocument/2006/relationships/slide" Target="slides/slide7.xml"/><Relationship Id="rId34" Type="http://schemas.openxmlformats.org/officeDocument/2006/relationships/font" Target="fonts/PoppinsSemiBold-italic.fntdata"/><Relationship Id="rId15" Type="http://schemas.openxmlformats.org/officeDocument/2006/relationships/slide" Target="slides/slide10.xml"/><Relationship Id="rId37" Type="http://schemas.openxmlformats.org/officeDocument/2006/relationships/font" Target="fonts/CenturyGothic-bold.fntdata"/><Relationship Id="rId14" Type="http://schemas.openxmlformats.org/officeDocument/2006/relationships/slide" Target="slides/slide9.xml"/><Relationship Id="rId36" Type="http://schemas.openxmlformats.org/officeDocument/2006/relationships/font" Target="fonts/CenturyGothic-regular.fntdata"/><Relationship Id="rId17" Type="http://schemas.openxmlformats.org/officeDocument/2006/relationships/slide" Target="slides/slide12.xml"/><Relationship Id="rId39" Type="http://schemas.openxmlformats.org/officeDocument/2006/relationships/font" Target="fonts/CenturyGothic-boldItalic.fntdata"/><Relationship Id="rId16" Type="http://schemas.openxmlformats.org/officeDocument/2006/relationships/slide" Target="slides/slide11.xml"/><Relationship Id="rId38" Type="http://schemas.openxmlformats.org/officeDocument/2006/relationships/font" Target="fonts/CenturyGothic-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783fd7ab2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783fd7ab2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171a6f556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171a6f556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da23c105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da23c105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d48c48947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d48c48947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d3f485c49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d3f485c49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f607dc39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f607dc39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171a6f556c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171a6f556c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d48c48947f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d48c48947f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d48c48947f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d48c48947f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d48c48947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d48c48947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d48c48947f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d48c48947f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d48c48947f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d48c48947f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d48c48947f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d48c48947f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d48c48947f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d48c48947f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d48c48947f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d48c48947f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d48c48947f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d48c48947f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42b0c1c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942b0c1c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57200" y="1952825"/>
            <a:ext cx="5417400" cy="1510500"/>
          </a:xfrm>
          <a:prstGeom prst="rect">
            <a:avLst/>
          </a:prstGeom>
        </p:spPr>
        <p:txBody>
          <a:bodyPr anchorCtr="0" anchor="ctr" bIns="0" lIns="0" spcFirstLastPara="1" rIns="0" wrap="square" tIns="0">
            <a:noAutofit/>
          </a:bodyPr>
          <a:lstStyle>
            <a:lvl1pPr lvl="0">
              <a:spcBef>
                <a:spcPts val="0"/>
              </a:spcBef>
              <a:spcAft>
                <a:spcPts val="0"/>
              </a:spcAft>
              <a:buSzPts val="3600"/>
              <a:buFont typeface="Poppins SemiBold"/>
              <a:buNone/>
              <a:defRPr sz="3600">
                <a:latin typeface="Poppins SemiBold"/>
                <a:ea typeface="Poppins SemiBold"/>
                <a:cs typeface="Poppins SemiBold"/>
                <a:sym typeface="Poppins Semi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457200" y="3463325"/>
            <a:ext cx="5417400" cy="276000"/>
          </a:xfrm>
          <a:prstGeom prst="rect">
            <a:avLst/>
          </a:prstGeom>
        </p:spPr>
        <p:txBody>
          <a:bodyPr anchorCtr="0" anchor="ctr" bIns="0" lIns="0" spcFirstLastPara="1" rIns="0" wrap="square" tIns="0">
            <a:noAutofit/>
          </a:bodyPr>
          <a:lstStyle>
            <a:lvl1pPr lvl="0">
              <a:lnSpc>
                <a:spcPct val="100000"/>
              </a:lnSpc>
              <a:spcBef>
                <a:spcPts val="0"/>
              </a:spcBef>
              <a:spcAft>
                <a:spcPts val="0"/>
              </a:spcAft>
              <a:buSzPts val="1600"/>
              <a:buFont typeface="Poppins Medium"/>
              <a:buNone/>
              <a:defRPr sz="1600">
                <a:latin typeface="Poppins Medium"/>
                <a:ea typeface="Poppins Medium"/>
                <a:cs typeface="Poppins Medium"/>
                <a:sym typeface="Poppins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 name="Google Shape;13;p2"/>
          <p:cNvPicPr preferRelativeResize="0"/>
          <p:nvPr/>
        </p:nvPicPr>
        <p:blipFill>
          <a:blip r:embed="rId2">
            <a:alphaModFix/>
          </a:blip>
          <a:stretch>
            <a:fillRect/>
          </a:stretch>
        </p:blipFill>
        <p:spPr>
          <a:xfrm>
            <a:off x="457200" y="1404186"/>
            <a:ext cx="3099815" cy="548640"/>
          </a:xfrm>
          <a:prstGeom prst="rect">
            <a:avLst/>
          </a:prstGeom>
          <a:noFill/>
          <a:ln>
            <a:noFill/>
          </a:ln>
        </p:spPr>
      </p:pic>
      <p:sp>
        <p:nvSpPr>
          <p:cNvPr id="14" name="Google Shape;14;p2"/>
          <p:cNvSpPr/>
          <p:nvPr/>
        </p:nvSpPr>
        <p:spPr>
          <a:xfrm>
            <a:off x="0" y="5079600"/>
            <a:ext cx="9144000"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88">
          <p15:clr>
            <a:srgbClr val="FA7B17"/>
          </p15:clr>
        </p15:guide>
        <p15:guide id="2" pos="5472">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lank">
  <p:cSld name="TITLE_1">
    <p:spTree>
      <p:nvGrpSpPr>
        <p:cNvPr id="15" name="Shape 15"/>
        <p:cNvGrpSpPr/>
        <p:nvPr/>
      </p:nvGrpSpPr>
      <p:grpSpPr>
        <a:xfrm>
          <a:off x="0" y="0"/>
          <a:ext cx="0" cy="0"/>
          <a:chOff x="0" y="0"/>
          <a:chExt cx="0" cy="0"/>
        </a:xfrm>
      </p:grpSpPr>
      <p:sp>
        <p:nvSpPr>
          <p:cNvPr id="16" name="Google Shape;16;p3"/>
          <p:cNvSpPr txBox="1"/>
          <p:nvPr>
            <p:ph type="ctrTitle"/>
          </p:nvPr>
        </p:nvSpPr>
        <p:spPr>
          <a:xfrm>
            <a:off x="457200" y="1952825"/>
            <a:ext cx="5417400" cy="1510500"/>
          </a:xfrm>
          <a:prstGeom prst="rect">
            <a:avLst/>
          </a:prstGeom>
        </p:spPr>
        <p:txBody>
          <a:bodyPr anchorCtr="0" anchor="ctr" bIns="0" lIns="0" spcFirstLastPara="1" rIns="0" wrap="square" tIns="0">
            <a:noAutofit/>
          </a:bodyPr>
          <a:lstStyle>
            <a:lvl1pPr lvl="0" rtl="0">
              <a:spcBef>
                <a:spcPts val="0"/>
              </a:spcBef>
              <a:spcAft>
                <a:spcPts val="0"/>
              </a:spcAft>
              <a:buSzPts val="3600"/>
              <a:buFont typeface="Poppins SemiBold"/>
              <a:buNone/>
              <a:defRPr sz="3600">
                <a:latin typeface="Poppins SemiBold"/>
                <a:ea typeface="Poppins SemiBold"/>
                <a:cs typeface="Poppins SemiBold"/>
                <a:sym typeface="Poppins SemiBold"/>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7" name="Google Shape;17;p3"/>
          <p:cNvSpPr txBox="1"/>
          <p:nvPr>
            <p:ph idx="1" type="subTitle"/>
          </p:nvPr>
        </p:nvSpPr>
        <p:spPr>
          <a:xfrm>
            <a:off x="457200" y="3463325"/>
            <a:ext cx="5417400" cy="2760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1600"/>
              <a:buFont typeface="Poppins Medium"/>
              <a:buNone/>
              <a:defRPr sz="1600">
                <a:latin typeface="Poppins Medium"/>
                <a:ea typeface="Poppins Medium"/>
                <a:cs typeface="Poppins Medium"/>
                <a:sym typeface="Poppins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8" name="Google Shape;18;p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3"/>
          <p:cNvPicPr preferRelativeResize="0"/>
          <p:nvPr/>
        </p:nvPicPr>
        <p:blipFill>
          <a:blip r:embed="rId2">
            <a:alphaModFix/>
          </a:blip>
          <a:stretch>
            <a:fillRect/>
          </a:stretch>
        </p:blipFill>
        <p:spPr>
          <a:xfrm>
            <a:off x="457200" y="1404186"/>
            <a:ext cx="3099815" cy="548640"/>
          </a:xfrm>
          <a:prstGeom prst="rect">
            <a:avLst/>
          </a:prstGeom>
          <a:noFill/>
          <a:ln>
            <a:noFill/>
          </a:ln>
        </p:spPr>
      </p:pic>
      <p:sp>
        <p:nvSpPr>
          <p:cNvPr id="20" name="Google Shape;20;p3"/>
          <p:cNvSpPr/>
          <p:nvPr/>
        </p:nvSpPr>
        <p:spPr>
          <a:xfrm>
            <a:off x="0" y="5079600"/>
            <a:ext cx="9144000"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88">
          <p15:clr>
            <a:srgbClr val="FA7B17"/>
          </p15:clr>
        </p15:guide>
        <p15:guide id="2" pos="5472">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on gold">
  <p:cSld name="MAIN_POINT_1_1">
    <p:spTree>
      <p:nvGrpSpPr>
        <p:cNvPr id="21" name="Shape 21"/>
        <p:cNvGrpSpPr/>
        <p:nvPr/>
      </p:nvGrpSpPr>
      <p:grpSpPr>
        <a:xfrm>
          <a:off x="0" y="0"/>
          <a:ext cx="0" cy="0"/>
          <a:chOff x="0" y="0"/>
          <a:chExt cx="0" cy="0"/>
        </a:xfrm>
      </p:grpSpPr>
      <p:cxnSp>
        <p:nvCxnSpPr>
          <p:cNvPr id="22" name="Google Shape;22;p4"/>
          <p:cNvCxnSpPr/>
          <p:nvPr/>
        </p:nvCxnSpPr>
        <p:spPr>
          <a:xfrm>
            <a:off x="466725" y="3665575"/>
            <a:ext cx="7743000" cy="0"/>
          </a:xfrm>
          <a:prstGeom prst="straightConnector1">
            <a:avLst/>
          </a:prstGeom>
          <a:noFill/>
          <a:ln cap="flat" cmpd="sng" w="28575">
            <a:solidFill>
              <a:schemeClr val="lt1"/>
            </a:solidFill>
            <a:prstDash val="solid"/>
            <a:round/>
            <a:headEnd len="med" w="med" type="none"/>
            <a:tailEnd len="med" w="med" type="none"/>
          </a:ln>
        </p:spPr>
      </p:cxnSp>
      <p:sp>
        <p:nvSpPr>
          <p:cNvPr id="23" name="Google Shape;23;p4"/>
          <p:cNvSpPr txBox="1"/>
          <p:nvPr>
            <p:ph type="title"/>
          </p:nvPr>
        </p:nvSpPr>
        <p:spPr>
          <a:xfrm>
            <a:off x="457200" y="1046175"/>
            <a:ext cx="7752300" cy="2507700"/>
          </a:xfrm>
          <a:prstGeom prst="rect">
            <a:avLst/>
          </a:prstGeom>
        </p:spPr>
        <p:txBody>
          <a:bodyPr anchorCtr="0" anchor="b" bIns="0" lIns="0" spcFirstLastPara="1" rIns="0" wrap="square" tIns="0">
            <a:noAutofit/>
          </a:bodyPr>
          <a:lstStyle>
            <a:lvl1pPr lvl="0" rtl="0">
              <a:spcBef>
                <a:spcPts val="0"/>
              </a:spcBef>
              <a:spcAft>
                <a:spcPts val="0"/>
              </a:spcAft>
              <a:buSzPts val="36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4" name="Google Shape;24;p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4"/>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26" name="Google Shape;26;p4"/>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on white">
  <p:cSld name="MAIN_POINT_1_1_1">
    <p:spTree>
      <p:nvGrpSpPr>
        <p:cNvPr id="27" name="Shape 27"/>
        <p:cNvGrpSpPr/>
        <p:nvPr/>
      </p:nvGrpSpPr>
      <p:grpSpPr>
        <a:xfrm>
          <a:off x="0" y="0"/>
          <a:ext cx="0" cy="0"/>
          <a:chOff x="0" y="0"/>
          <a:chExt cx="0" cy="0"/>
        </a:xfrm>
      </p:grpSpPr>
      <p:cxnSp>
        <p:nvCxnSpPr>
          <p:cNvPr id="28" name="Google Shape;28;p5"/>
          <p:cNvCxnSpPr/>
          <p:nvPr/>
        </p:nvCxnSpPr>
        <p:spPr>
          <a:xfrm>
            <a:off x="459200" y="3665375"/>
            <a:ext cx="7750500" cy="0"/>
          </a:xfrm>
          <a:prstGeom prst="straightConnector1">
            <a:avLst/>
          </a:prstGeom>
          <a:noFill/>
          <a:ln cap="flat" cmpd="sng" w="28575">
            <a:solidFill>
              <a:schemeClr val="accent1"/>
            </a:solidFill>
            <a:prstDash val="solid"/>
            <a:round/>
            <a:headEnd len="med" w="med" type="none"/>
            <a:tailEnd len="med" w="med" type="none"/>
          </a:ln>
        </p:spPr>
      </p:cxnSp>
      <p:sp>
        <p:nvSpPr>
          <p:cNvPr id="29" name="Google Shape;29;p5"/>
          <p:cNvSpPr txBox="1"/>
          <p:nvPr>
            <p:ph type="title"/>
          </p:nvPr>
        </p:nvSpPr>
        <p:spPr>
          <a:xfrm>
            <a:off x="457200" y="1046175"/>
            <a:ext cx="7752300" cy="2507700"/>
          </a:xfrm>
          <a:prstGeom prst="rect">
            <a:avLst/>
          </a:prstGeom>
        </p:spPr>
        <p:txBody>
          <a:bodyPr anchorCtr="0" anchor="b" bIns="0" lIns="0" spcFirstLastPara="1" rIns="0" wrap="square" tIns="0">
            <a:noAutofit/>
          </a:bodyPr>
          <a:lstStyle>
            <a:lvl1pPr lvl="0" rtl="0">
              <a:spcBef>
                <a:spcPts val="0"/>
              </a:spcBef>
              <a:spcAft>
                <a:spcPts val="0"/>
              </a:spcAft>
              <a:buSzPts val="36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0" name="Google Shape;30;p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1" name="Google Shape;31;p5"/>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32" name="Google Shape;32;p5"/>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p6"/>
          <p:cNvSpPr txBox="1"/>
          <p:nvPr>
            <p:ph type="title"/>
          </p:nvPr>
        </p:nvSpPr>
        <p:spPr>
          <a:xfrm>
            <a:off x="457200" y="445025"/>
            <a:ext cx="8229600" cy="6402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 name="Google Shape;35;p6"/>
          <p:cNvSpPr txBox="1"/>
          <p:nvPr>
            <p:ph idx="1" type="body"/>
          </p:nvPr>
        </p:nvSpPr>
        <p:spPr>
          <a:xfrm>
            <a:off x="457200" y="1645500"/>
            <a:ext cx="8229600" cy="2923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 name="Google Shape;36;p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7" name="Google Shape;37;p6"/>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38" name="Google Shape;38;p6"/>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39" name="Google Shape;39;p6"/>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6"/>
          <p:cNvSpPr txBox="1"/>
          <p:nvPr>
            <p:ph idx="3" type="subTitle"/>
          </p:nvPr>
        </p:nvSpPr>
        <p:spPr>
          <a:xfrm>
            <a:off x="457200" y="1228413"/>
            <a:ext cx="8229600" cy="273900"/>
          </a:xfrm>
          <a:prstGeom prst="rect">
            <a:avLst/>
          </a:prstGeom>
        </p:spPr>
        <p:txBody>
          <a:bodyPr anchorCtr="0" anchor="ctr" bIns="0" lIns="0" spcFirstLastPara="1" rIns="0" wrap="square" tIns="0">
            <a:noAutofit/>
          </a:bodyPr>
          <a:lstStyle>
            <a:lvl1pPr lvl="0">
              <a:spcBef>
                <a:spcPts val="0"/>
              </a:spcBef>
              <a:spcAft>
                <a:spcPts val="0"/>
              </a:spcAft>
              <a:buClr>
                <a:schemeClr val="accent1"/>
              </a:buClr>
              <a:buSzPts val="1600"/>
              <a:buNone/>
              <a:defRPr sz="1600">
                <a:solidFill>
                  <a:schemeClr val="accent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extLst>
    <p:ext uri="{DCECCB84-F9BA-43D5-87BE-67443E8EF086}">
      <p15:sldGuideLst>
        <p15:guide id="1" orient="horz" pos="280">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 name="Shape 41"/>
        <p:cNvGrpSpPr/>
        <p:nvPr/>
      </p:nvGrpSpPr>
      <p:grpSpPr>
        <a:xfrm>
          <a:off x="0" y="0"/>
          <a:ext cx="0" cy="0"/>
          <a:chOff x="0" y="0"/>
          <a:chExt cx="0" cy="0"/>
        </a:xfrm>
      </p:grpSpPr>
      <p:sp>
        <p:nvSpPr>
          <p:cNvPr id="42" name="Google Shape;42;p7"/>
          <p:cNvSpPr txBox="1"/>
          <p:nvPr>
            <p:ph type="title"/>
          </p:nvPr>
        </p:nvSpPr>
        <p:spPr>
          <a:xfrm>
            <a:off x="457200" y="445025"/>
            <a:ext cx="8229600" cy="6402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7"/>
          <p:cNvSpPr txBox="1"/>
          <p:nvPr>
            <p:ph idx="1" type="body"/>
          </p:nvPr>
        </p:nvSpPr>
        <p:spPr>
          <a:xfrm>
            <a:off x="457200" y="1645514"/>
            <a:ext cx="3854400" cy="29109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4" name="Google Shape;44;p7"/>
          <p:cNvSpPr txBox="1"/>
          <p:nvPr>
            <p:ph idx="2" type="body"/>
          </p:nvPr>
        </p:nvSpPr>
        <p:spPr>
          <a:xfrm>
            <a:off x="4832400" y="1645920"/>
            <a:ext cx="3854400" cy="29109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5" name="Google Shape;45;p7"/>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46" name="Google Shape;46;p7"/>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47" name="Google Shape;47;p7"/>
          <p:cNvSpPr txBox="1"/>
          <p:nvPr>
            <p:ph idx="3"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48" name="Google Shape;48;p7"/>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txBox="1"/>
          <p:nvPr>
            <p:ph idx="4" type="subTitle"/>
          </p:nvPr>
        </p:nvSpPr>
        <p:spPr>
          <a:xfrm>
            <a:off x="457200" y="1228413"/>
            <a:ext cx="3858900" cy="273900"/>
          </a:xfrm>
          <a:prstGeom prst="rect">
            <a:avLst/>
          </a:prstGeom>
        </p:spPr>
        <p:txBody>
          <a:bodyPr anchorCtr="0" anchor="ctr" bIns="0" lIns="0" spcFirstLastPara="1" rIns="0" wrap="square" tIns="0">
            <a:noAutofit/>
          </a:bodyPr>
          <a:lstStyle>
            <a:lvl1pPr lvl="0" rtl="0">
              <a:spcBef>
                <a:spcPts val="0"/>
              </a:spcBef>
              <a:spcAft>
                <a:spcPts val="0"/>
              </a:spcAft>
              <a:buClr>
                <a:schemeClr val="accent1"/>
              </a:buClr>
              <a:buSzPts val="1600"/>
              <a:buNone/>
              <a:defRPr sz="1600">
                <a:solidFill>
                  <a:schemeClr val="accent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50" name="Google Shape;50;p7"/>
          <p:cNvSpPr txBox="1"/>
          <p:nvPr>
            <p:ph idx="5" type="subTitle"/>
          </p:nvPr>
        </p:nvSpPr>
        <p:spPr>
          <a:xfrm>
            <a:off x="4830150" y="1228613"/>
            <a:ext cx="3858900" cy="273900"/>
          </a:xfrm>
          <a:prstGeom prst="rect">
            <a:avLst/>
          </a:prstGeom>
        </p:spPr>
        <p:txBody>
          <a:bodyPr anchorCtr="0" anchor="ctr" bIns="0" lIns="0" spcFirstLastPara="1" rIns="0" wrap="square" tIns="0">
            <a:noAutofit/>
          </a:bodyPr>
          <a:lstStyle>
            <a:lvl1pPr lvl="0" rtl="0">
              <a:spcBef>
                <a:spcPts val="0"/>
              </a:spcBef>
              <a:spcAft>
                <a:spcPts val="0"/>
              </a:spcAft>
              <a:buClr>
                <a:schemeClr val="accent1"/>
              </a:buClr>
              <a:buSzPts val="1600"/>
              <a:buNone/>
              <a:defRPr sz="1600">
                <a:solidFill>
                  <a:schemeClr val="accent1"/>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nd Half">
  <p:cSld name="ONE_COLUMN_TEXT_2">
    <p:spTree>
      <p:nvGrpSpPr>
        <p:cNvPr id="51" name="Shape 51"/>
        <p:cNvGrpSpPr/>
        <p:nvPr/>
      </p:nvGrpSpPr>
      <p:grpSpPr>
        <a:xfrm>
          <a:off x="0" y="0"/>
          <a:ext cx="0" cy="0"/>
          <a:chOff x="0" y="0"/>
          <a:chExt cx="0" cy="0"/>
        </a:xfrm>
      </p:grpSpPr>
      <p:sp>
        <p:nvSpPr>
          <p:cNvPr id="52" name="Google Shape;52;p8"/>
          <p:cNvSpPr/>
          <p:nvPr/>
        </p:nvSpPr>
        <p:spPr>
          <a:xfrm rot="-5400000">
            <a:off x="3317300" y="-665850"/>
            <a:ext cx="2581500" cy="9056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8"/>
          <p:cNvSpPr txBox="1"/>
          <p:nvPr>
            <p:ph idx="1"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55" name="Google Shape;55;p8"/>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56" name="Google Shape;56;p8"/>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9"/>
          <p:cNvSpPr txBox="1"/>
          <p:nvPr>
            <p:ph type="title"/>
          </p:nvPr>
        </p:nvSpPr>
        <p:spPr>
          <a:xfrm>
            <a:off x="457200" y="445025"/>
            <a:ext cx="8229600" cy="6402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 name="Google Shape;59;p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idx="1"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61" name="Google Shape;61;p9"/>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62" name="Google Shape;62;p9"/>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gold">
  <p:cSld name="ONE_COLUMN_TEXT">
    <p:spTree>
      <p:nvGrpSpPr>
        <p:cNvPr id="63" name="Shape 63"/>
        <p:cNvGrpSpPr/>
        <p:nvPr/>
      </p:nvGrpSpPr>
      <p:grpSpPr>
        <a:xfrm>
          <a:off x="0" y="0"/>
          <a:ext cx="0" cy="0"/>
          <a:chOff x="0" y="0"/>
          <a:chExt cx="0" cy="0"/>
        </a:xfrm>
      </p:grpSpPr>
      <p:sp>
        <p:nvSpPr>
          <p:cNvPr id="64" name="Google Shape;64;p10"/>
          <p:cNvSpPr/>
          <p:nvPr/>
        </p:nvSpPr>
        <p:spPr>
          <a:xfrm rot="-5400000">
            <a:off x="3714950" y="-268050"/>
            <a:ext cx="5157300" cy="568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0"/>
          <p:cNvSpPr txBox="1"/>
          <p:nvPr>
            <p:ph type="title"/>
          </p:nvPr>
        </p:nvSpPr>
        <p:spPr>
          <a:xfrm>
            <a:off x="457200" y="445025"/>
            <a:ext cx="2662500" cy="7557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6" name="Google Shape;66;p10"/>
          <p:cNvSpPr txBox="1"/>
          <p:nvPr>
            <p:ph idx="1" type="body"/>
          </p:nvPr>
        </p:nvSpPr>
        <p:spPr>
          <a:xfrm>
            <a:off x="457200" y="1389600"/>
            <a:ext cx="26625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7" name="Google Shape;67;p10"/>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0"/>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69" name="Google Shape;69;p10"/>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70" name="Google Shape;70;p10"/>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grey">
  <p:cSld name="ONE_COLUMN_TEXT_1">
    <p:spTree>
      <p:nvGrpSpPr>
        <p:cNvPr id="71" name="Shape 71"/>
        <p:cNvGrpSpPr/>
        <p:nvPr/>
      </p:nvGrpSpPr>
      <p:grpSpPr>
        <a:xfrm>
          <a:off x="0" y="0"/>
          <a:ext cx="0" cy="0"/>
          <a:chOff x="0" y="0"/>
          <a:chExt cx="0" cy="0"/>
        </a:xfrm>
      </p:grpSpPr>
      <p:sp>
        <p:nvSpPr>
          <p:cNvPr id="72" name="Google Shape;72;p11"/>
          <p:cNvSpPr/>
          <p:nvPr/>
        </p:nvSpPr>
        <p:spPr>
          <a:xfrm rot="-5400000">
            <a:off x="3714950" y="-268050"/>
            <a:ext cx="5157300" cy="5685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txBox="1"/>
          <p:nvPr>
            <p:ph type="title"/>
          </p:nvPr>
        </p:nvSpPr>
        <p:spPr>
          <a:xfrm>
            <a:off x="457200" y="445025"/>
            <a:ext cx="2662500" cy="7557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11"/>
          <p:cNvSpPr txBox="1"/>
          <p:nvPr>
            <p:ph idx="1" type="body"/>
          </p:nvPr>
        </p:nvSpPr>
        <p:spPr>
          <a:xfrm>
            <a:off x="457200" y="1389600"/>
            <a:ext cx="2662500" cy="31794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5" name="Google Shape;75;p1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11"/>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77" name="Google Shape;77;p11"/>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78" name="Google Shape;78;p11"/>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ight Half Block Grey">
  <p:cSld name="ONE_COLUMN_TEXT_1_1">
    <p:spTree>
      <p:nvGrpSpPr>
        <p:cNvPr id="79" name="Shape 79"/>
        <p:cNvGrpSpPr/>
        <p:nvPr/>
      </p:nvGrpSpPr>
      <p:grpSpPr>
        <a:xfrm>
          <a:off x="0" y="0"/>
          <a:ext cx="0" cy="0"/>
          <a:chOff x="0" y="0"/>
          <a:chExt cx="0" cy="0"/>
        </a:xfrm>
      </p:grpSpPr>
      <p:sp>
        <p:nvSpPr>
          <p:cNvPr id="80" name="Google Shape;80;p12"/>
          <p:cNvSpPr/>
          <p:nvPr/>
        </p:nvSpPr>
        <p:spPr>
          <a:xfrm rot="-5400000">
            <a:off x="4280175" y="297150"/>
            <a:ext cx="5157300" cy="45546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2"/>
          <p:cNvSpPr txBox="1"/>
          <p:nvPr>
            <p:ph type="title"/>
          </p:nvPr>
        </p:nvSpPr>
        <p:spPr>
          <a:xfrm>
            <a:off x="457200" y="445025"/>
            <a:ext cx="2662500" cy="7557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2" name="Google Shape;82;p12"/>
          <p:cNvSpPr txBox="1"/>
          <p:nvPr>
            <p:ph idx="1" type="body"/>
          </p:nvPr>
        </p:nvSpPr>
        <p:spPr>
          <a:xfrm>
            <a:off x="457200" y="1389600"/>
            <a:ext cx="2662500" cy="31794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3" name="Google Shape;83;p1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2"/>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85" name="Google Shape;85;p12"/>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86" name="Google Shape;86;p12"/>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168">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Half Block Grey">
  <p:cSld name="ONE_COLUMN_TEXT_1_1_1">
    <p:spTree>
      <p:nvGrpSpPr>
        <p:cNvPr id="87" name="Shape 87"/>
        <p:cNvGrpSpPr/>
        <p:nvPr/>
      </p:nvGrpSpPr>
      <p:grpSpPr>
        <a:xfrm>
          <a:off x="0" y="0"/>
          <a:ext cx="0" cy="0"/>
          <a:chOff x="0" y="0"/>
          <a:chExt cx="0" cy="0"/>
        </a:xfrm>
      </p:grpSpPr>
      <p:sp>
        <p:nvSpPr>
          <p:cNvPr id="88" name="Google Shape;88;p13"/>
          <p:cNvSpPr/>
          <p:nvPr/>
        </p:nvSpPr>
        <p:spPr>
          <a:xfrm rot="-5400000">
            <a:off x="-292650" y="288450"/>
            <a:ext cx="5157300" cy="4572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txBox="1"/>
          <p:nvPr>
            <p:ph type="title"/>
          </p:nvPr>
        </p:nvSpPr>
        <p:spPr>
          <a:xfrm>
            <a:off x="5031700" y="445025"/>
            <a:ext cx="2662500" cy="7557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0" name="Google Shape;90;p13"/>
          <p:cNvSpPr txBox="1"/>
          <p:nvPr>
            <p:ph idx="1" type="body"/>
          </p:nvPr>
        </p:nvSpPr>
        <p:spPr>
          <a:xfrm>
            <a:off x="5031700" y="1389600"/>
            <a:ext cx="2662500" cy="31794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91" name="Google Shape;91;p1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2" name="Google Shape;92;p13"/>
          <p:cNvSpPr txBox="1"/>
          <p:nvPr>
            <p:ph idx="2" type="subTitle"/>
          </p:nvPr>
        </p:nvSpPr>
        <p:spPr>
          <a:xfrm>
            <a:off x="5029200" y="0"/>
            <a:ext cx="41148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pic>
        <p:nvPicPr>
          <p:cNvPr id="93" name="Google Shape;93;p13"/>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94" name="Google Shape;94;p13"/>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168">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5" name="Shape 95"/>
        <p:cNvGrpSpPr/>
        <p:nvPr/>
      </p:nvGrpSpPr>
      <p:grpSpPr>
        <a:xfrm>
          <a:off x="0" y="0"/>
          <a:ext cx="0" cy="0"/>
          <a:chOff x="0" y="0"/>
          <a:chExt cx="0" cy="0"/>
        </a:xfrm>
      </p:grpSpPr>
      <p:sp>
        <p:nvSpPr>
          <p:cNvPr id="96" name="Google Shape;96;p1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97" name="Google Shape;97;p1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98" name="Google Shape;98;p14"/>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99" name="Google Shape;99;p14"/>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Preset Image diagonal">
  <p:cSld name="SECTION_TITLE_AND_DESCRIPTION_1">
    <p:spTree>
      <p:nvGrpSpPr>
        <p:cNvPr id="100" name="Shape 100"/>
        <p:cNvGrpSpPr/>
        <p:nvPr/>
      </p:nvGrpSpPr>
      <p:grpSpPr>
        <a:xfrm>
          <a:off x="0" y="0"/>
          <a:ext cx="0" cy="0"/>
          <a:chOff x="0" y="0"/>
          <a:chExt cx="0" cy="0"/>
        </a:xfrm>
      </p:grpSpPr>
      <p:sp>
        <p:nvSpPr>
          <p:cNvPr id="101" name="Google Shape;101;p15"/>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02" name="Google Shape;102;p15"/>
          <p:cNvSpPr txBox="1"/>
          <p:nvPr>
            <p:ph idx="1"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3" name="Google Shape;103;p1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4" name="Google Shape;104;p15"/>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05" name="Google Shape;105;p15"/>
          <p:cNvSpPr txBox="1"/>
          <p:nvPr>
            <p:ph idx="2" type="subTitle"/>
          </p:nvPr>
        </p:nvSpPr>
        <p:spPr>
          <a:xfrm>
            <a:off x="3883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06" name="Google Shape;106;p15"/>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old diagonal">
  <p:cSld name="SECTION_TITLE_AND_DESCRIPTION_1_2">
    <p:spTree>
      <p:nvGrpSpPr>
        <p:cNvPr id="107" name="Shape 107"/>
        <p:cNvGrpSpPr/>
        <p:nvPr/>
      </p:nvGrpSpPr>
      <p:grpSpPr>
        <a:xfrm>
          <a:off x="0" y="0"/>
          <a:ext cx="0" cy="0"/>
          <a:chOff x="0" y="0"/>
          <a:chExt cx="0" cy="0"/>
        </a:xfrm>
      </p:grpSpPr>
      <p:sp>
        <p:nvSpPr>
          <p:cNvPr id="108" name="Google Shape;108;p16"/>
          <p:cNvSpPr/>
          <p:nvPr/>
        </p:nvSpPr>
        <p:spPr>
          <a:xfrm rot="5400000">
            <a:off x="-1116925" y="1090500"/>
            <a:ext cx="5157300" cy="295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0" name="Google Shape;110;p16"/>
          <p:cNvSpPr txBox="1"/>
          <p:nvPr>
            <p:ph idx="1"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1" name="Google Shape;111;p1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16"/>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13" name="Google Shape;113;p16"/>
          <p:cNvSpPr txBox="1"/>
          <p:nvPr>
            <p:ph idx="2" type="subTitle"/>
          </p:nvPr>
        </p:nvSpPr>
        <p:spPr>
          <a:xfrm>
            <a:off x="3883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14" name="Google Shape;114;p16"/>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rot="5400000">
            <a:off x="606575" y="2324100"/>
            <a:ext cx="5159100" cy="4953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old">
  <p:cSld name="SECTION_TITLE_AND_DESCRIPTION_1_2_2">
    <p:spTree>
      <p:nvGrpSpPr>
        <p:cNvPr id="116" name="Shape 116"/>
        <p:cNvGrpSpPr/>
        <p:nvPr/>
      </p:nvGrpSpPr>
      <p:grpSpPr>
        <a:xfrm>
          <a:off x="0" y="0"/>
          <a:ext cx="0" cy="0"/>
          <a:chOff x="0" y="0"/>
          <a:chExt cx="0" cy="0"/>
        </a:xfrm>
      </p:grpSpPr>
      <p:sp>
        <p:nvSpPr>
          <p:cNvPr id="117" name="Google Shape;117;p17"/>
          <p:cNvSpPr/>
          <p:nvPr/>
        </p:nvSpPr>
        <p:spPr>
          <a:xfrm rot="5400000">
            <a:off x="-985950" y="959550"/>
            <a:ext cx="5157300" cy="3215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9" name="Google Shape;119;p17"/>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20" name="Google Shape;120;p17"/>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21" name="Google Shape;121;p17"/>
          <p:cNvSpPr txBox="1"/>
          <p:nvPr>
            <p:ph idx="1" type="subTitle"/>
          </p:nvPr>
        </p:nvSpPr>
        <p:spPr>
          <a:xfrm>
            <a:off x="367415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22" name="Google Shape;122;p17"/>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rey diagonal">
  <p:cSld name="SECTION_TITLE_AND_DESCRIPTION_1_2_1">
    <p:spTree>
      <p:nvGrpSpPr>
        <p:cNvPr id="124" name="Shape 124"/>
        <p:cNvGrpSpPr/>
        <p:nvPr/>
      </p:nvGrpSpPr>
      <p:grpSpPr>
        <a:xfrm>
          <a:off x="0" y="0"/>
          <a:ext cx="0" cy="0"/>
          <a:chOff x="0" y="0"/>
          <a:chExt cx="0" cy="0"/>
        </a:xfrm>
      </p:grpSpPr>
      <p:sp>
        <p:nvSpPr>
          <p:cNvPr id="125" name="Google Shape;125;p18"/>
          <p:cNvSpPr/>
          <p:nvPr/>
        </p:nvSpPr>
        <p:spPr>
          <a:xfrm rot="5400000">
            <a:off x="-1116925" y="1090500"/>
            <a:ext cx="5157300" cy="2953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8"/>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7" name="Google Shape;127;p18"/>
          <p:cNvSpPr txBox="1"/>
          <p:nvPr>
            <p:ph idx="1"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8" name="Google Shape;128;p1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29" name="Google Shape;129;p18"/>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30" name="Google Shape;130;p18"/>
          <p:cNvSpPr txBox="1"/>
          <p:nvPr>
            <p:ph idx="2" type="subTitle"/>
          </p:nvPr>
        </p:nvSpPr>
        <p:spPr>
          <a:xfrm>
            <a:off x="3883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1" name="Google Shape;131;p18"/>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8"/>
          <p:cNvSpPr/>
          <p:nvPr/>
        </p:nvSpPr>
        <p:spPr>
          <a:xfrm rot="5400000">
            <a:off x="606575" y="2324100"/>
            <a:ext cx="5159100" cy="495300"/>
          </a:xfrm>
          <a:prstGeom prst="rtTriangl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163">
          <p15:clr>
            <a:srgbClr val="FA7B17"/>
          </p15:clr>
        </p15:guide>
        <p15:guide id="2" pos="2446">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w. grey">
  <p:cSld name="SECTION_TITLE_AND_DESCRIPTION_1_2_2_1">
    <p:spTree>
      <p:nvGrpSpPr>
        <p:cNvPr id="133" name="Shape 133"/>
        <p:cNvGrpSpPr/>
        <p:nvPr/>
      </p:nvGrpSpPr>
      <p:grpSpPr>
        <a:xfrm>
          <a:off x="0" y="0"/>
          <a:ext cx="0" cy="0"/>
          <a:chOff x="0" y="0"/>
          <a:chExt cx="0" cy="0"/>
        </a:xfrm>
      </p:grpSpPr>
      <p:sp>
        <p:nvSpPr>
          <p:cNvPr id="134" name="Google Shape;134;p19"/>
          <p:cNvSpPr/>
          <p:nvPr/>
        </p:nvSpPr>
        <p:spPr>
          <a:xfrm rot="5400000">
            <a:off x="-990675" y="964350"/>
            <a:ext cx="5157300" cy="32058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9"/>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36" name="Google Shape;136;p1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37" name="Google Shape;137;p19"/>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38" name="Google Shape;138;p19"/>
          <p:cNvSpPr txBox="1"/>
          <p:nvPr>
            <p:ph idx="1" type="subTitle"/>
          </p:nvPr>
        </p:nvSpPr>
        <p:spPr>
          <a:xfrm>
            <a:off x="3664625"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39" name="Google Shape;139;p19"/>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9"/>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Preset Image">
  <p:cSld name="SECTION_TITLE_AND_DESCRIPTION_1_1">
    <p:spTree>
      <p:nvGrpSpPr>
        <p:cNvPr id="141" name="Shape 141"/>
        <p:cNvGrpSpPr/>
        <p:nvPr/>
      </p:nvGrpSpPr>
      <p:grpSpPr>
        <a:xfrm>
          <a:off x="0" y="0"/>
          <a:ext cx="0" cy="0"/>
          <a:chOff x="0" y="0"/>
          <a:chExt cx="0" cy="0"/>
        </a:xfrm>
      </p:grpSpPr>
      <p:sp>
        <p:nvSpPr>
          <p:cNvPr id="142" name="Google Shape;142;p20"/>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43" name="Google Shape;143;p20"/>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44" name="Google Shape;144;p20"/>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45" name="Google Shape;145;p20"/>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46" name="Google Shape;146;p20"/>
          <p:cNvSpPr txBox="1"/>
          <p:nvPr>
            <p:ph idx="2"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7" name="Google Shape;147;p20"/>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old? diagonal">
  <p:cSld name="SECTION_TITLE_AND_DESCRIPTION_1_1_1">
    <p:spTree>
      <p:nvGrpSpPr>
        <p:cNvPr id="148" name="Shape 148"/>
        <p:cNvGrpSpPr/>
        <p:nvPr/>
      </p:nvGrpSpPr>
      <p:grpSpPr>
        <a:xfrm>
          <a:off x="0" y="0"/>
          <a:ext cx="0" cy="0"/>
          <a:chOff x="0" y="0"/>
          <a:chExt cx="0" cy="0"/>
        </a:xfrm>
      </p:grpSpPr>
      <p:sp>
        <p:nvSpPr>
          <p:cNvPr id="149" name="Google Shape;149;p21"/>
          <p:cNvSpPr/>
          <p:nvPr/>
        </p:nvSpPr>
        <p:spPr>
          <a:xfrm rot="-5400000">
            <a:off x="623900" y="2322300"/>
            <a:ext cx="5159100" cy="4953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1"/>
          <p:cNvSpPr/>
          <p:nvPr/>
        </p:nvSpPr>
        <p:spPr>
          <a:xfrm rot="-5400000">
            <a:off x="3714950" y="-268050"/>
            <a:ext cx="5157300" cy="568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1"/>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2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53" name="Google Shape;153;p21"/>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54" name="Google Shape;154;p21"/>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55" name="Google Shape;155;p21"/>
          <p:cNvSpPr txBox="1"/>
          <p:nvPr>
            <p:ph idx="2"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6" name="Google Shape;156;p21"/>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old?">
  <p:cSld name="SECTION_TITLE_AND_DESCRIPTION_1_1_1_2">
    <p:spTree>
      <p:nvGrpSpPr>
        <p:cNvPr id="157" name="Shape 157"/>
        <p:cNvGrpSpPr/>
        <p:nvPr/>
      </p:nvGrpSpPr>
      <p:grpSpPr>
        <a:xfrm>
          <a:off x="0" y="0"/>
          <a:ext cx="0" cy="0"/>
          <a:chOff x="0" y="0"/>
          <a:chExt cx="0" cy="0"/>
        </a:xfrm>
      </p:grpSpPr>
      <p:sp>
        <p:nvSpPr>
          <p:cNvPr id="158" name="Google Shape;158;p22"/>
          <p:cNvSpPr/>
          <p:nvPr/>
        </p:nvSpPr>
        <p:spPr>
          <a:xfrm rot="-5400000">
            <a:off x="3594375" y="-388650"/>
            <a:ext cx="5157300" cy="592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60" name="Google Shape;160;p2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61" name="Google Shape;161;p22"/>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62" name="Google Shape;162;p22"/>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63" name="Google Shape;163;p22"/>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64" name="Google Shape;164;p22"/>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rey diagonal">
  <p:cSld name="SECTION_TITLE_AND_DESCRIPTION_1_1_1_1">
    <p:spTree>
      <p:nvGrpSpPr>
        <p:cNvPr id="165" name="Shape 165"/>
        <p:cNvGrpSpPr/>
        <p:nvPr/>
      </p:nvGrpSpPr>
      <p:grpSpPr>
        <a:xfrm>
          <a:off x="0" y="0"/>
          <a:ext cx="0" cy="0"/>
          <a:chOff x="0" y="0"/>
          <a:chExt cx="0" cy="0"/>
        </a:xfrm>
      </p:grpSpPr>
      <p:sp>
        <p:nvSpPr>
          <p:cNvPr id="166" name="Google Shape;166;p23"/>
          <p:cNvSpPr/>
          <p:nvPr/>
        </p:nvSpPr>
        <p:spPr>
          <a:xfrm rot="-5400000">
            <a:off x="623900" y="2322300"/>
            <a:ext cx="5159100" cy="495300"/>
          </a:xfrm>
          <a:prstGeom prst="rtTriangl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3"/>
          <p:cNvSpPr/>
          <p:nvPr/>
        </p:nvSpPr>
        <p:spPr>
          <a:xfrm rot="-5400000">
            <a:off x="3714950" y="-268050"/>
            <a:ext cx="5157300" cy="56850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3"/>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69" name="Google Shape;169;p2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70" name="Google Shape;170;p23"/>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71" name="Google Shape;171;p23"/>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72" name="Google Shape;172;p23"/>
          <p:cNvSpPr txBox="1"/>
          <p:nvPr>
            <p:ph idx="2" type="body"/>
          </p:nvPr>
        </p:nvSpPr>
        <p:spPr>
          <a:xfrm>
            <a:off x="388370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3" name="Google Shape;173;p23"/>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Thirds w. grey">
  <p:cSld name="SECTION_TITLE_AND_DESCRIPTION_1_1_1_3">
    <p:spTree>
      <p:nvGrpSpPr>
        <p:cNvPr id="174" name="Shape 174"/>
        <p:cNvGrpSpPr/>
        <p:nvPr/>
      </p:nvGrpSpPr>
      <p:grpSpPr>
        <a:xfrm>
          <a:off x="0" y="0"/>
          <a:ext cx="0" cy="0"/>
          <a:chOff x="0" y="0"/>
          <a:chExt cx="0" cy="0"/>
        </a:xfrm>
      </p:grpSpPr>
      <p:sp>
        <p:nvSpPr>
          <p:cNvPr id="175" name="Google Shape;175;p24"/>
          <p:cNvSpPr/>
          <p:nvPr/>
        </p:nvSpPr>
        <p:spPr>
          <a:xfrm rot="-5400000">
            <a:off x="3594375" y="-388650"/>
            <a:ext cx="5157300" cy="5926200"/>
          </a:xfrm>
          <a:prstGeom prst="rect">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4"/>
          <p:cNvSpPr txBox="1"/>
          <p:nvPr>
            <p:ph type="title"/>
          </p:nvPr>
        </p:nvSpPr>
        <p:spPr>
          <a:xfrm>
            <a:off x="457200" y="1830600"/>
            <a:ext cx="2394900" cy="1482300"/>
          </a:xfrm>
          <a:prstGeom prst="rect">
            <a:avLst/>
          </a:prstGeom>
        </p:spPr>
        <p:txBody>
          <a:bodyPr anchorCtr="0" anchor="ctr" bIns="0" lIns="0" spcFirstLastPara="1" rIns="0" wrap="square" tIns="0">
            <a:noAutofit/>
          </a:bodyPr>
          <a:lstStyle>
            <a:lvl1pPr lvl="0" rtl="0">
              <a:spcBef>
                <a:spcPts val="0"/>
              </a:spcBef>
              <a:spcAft>
                <a:spcPts val="0"/>
              </a:spcAft>
              <a:buSzPts val="2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77" name="Google Shape;177;p2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78" name="Google Shape;178;p24"/>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79" name="Google Shape;179;p24"/>
          <p:cNvSpPr txBox="1"/>
          <p:nvPr>
            <p:ph idx="1" type="subTitle"/>
          </p:nvPr>
        </p:nvSpPr>
        <p:spPr>
          <a:xfrm>
            <a:off x="4572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180" name="Google Shape;180;p24"/>
          <p:cNvSpPr txBox="1"/>
          <p:nvPr>
            <p:ph idx="2" type="body"/>
          </p:nvPr>
        </p:nvSpPr>
        <p:spPr>
          <a:xfrm>
            <a:off x="3674150" y="679775"/>
            <a:ext cx="4803300" cy="3716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1" name="Google Shape;181;p24"/>
          <p:cNvSpPr/>
          <p:nvPr/>
        </p:nvSpPr>
        <p:spPr>
          <a:xfrm rot="5404215">
            <a:off x="-2534252" y="2539796"/>
            <a:ext cx="5138704" cy="63900"/>
          </a:xfrm>
          <a:prstGeom prst="rect">
            <a:avLst/>
          </a:prstGeom>
          <a:solidFill>
            <a:schemeClr val="accent1"/>
          </a:solidFill>
          <a:ln>
            <a:noFill/>
          </a:ln>
          <a:effectLst>
            <a:outerShdw blurRad="57150" rotWithShape="0" algn="bl" dir="2154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2" name="Shape 182"/>
        <p:cNvGrpSpPr/>
        <p:nvPr/>
      </p:nvGrpSpPr>
      <p:grpSpPr>
        <a:xfrm>
          <a:off x="0" y="0"/>
          <a:ext cx="0" cy="0"/>
          <a:chOff x="0" y="0"/>
          <a:chExt cx="0" cy="0"/>
        </a:xfrm>
      </p:grpSpPr>
      <p:sp>
        <p:nvSpPr>
          <p:cNvPr id="183" name="Google Shape;183;p25"/>
          <p:cNvSpPr txBox="1"/>
          <p:nvPr>
            <p:ph idx="1" type="body"/>
          </p:nvPr>
        </p:nvSpPr>
        <p:spPr>
          <a:xfrm>
            <a:off x="457200" y="3963900"/>
            <a:ext cx="5998800" cy="605100"/>
          </a:xfrm>
          <a:prstGeom prst="rect">
            <a:avLst/>
          </a:prstGeom>
        </p:spPr>
        <p:txBody>
          <a:bodyPr anchorCtr="0" anchor="ctr" bIns="0" lIns="0" spcFirstLastPara="1" rIns="0" wrap="square" tIns="0">
            <a:noAutofit/>
          </a:bodyPr>
          <a:lstStyle>
            <a:lvl1pPr indent="-228600" lvl="0" marL="457200">
              <a:lnSpc>
                <a:spcPct val="100000"/>
              </a:lnSpc>
              <a:spcBef>
                <a:spcPts val="0"/>
              </a:spcBef>
              <a:spcAft>
                <a:spcPts val="0"/>
              </a:spcAft>
              <a:buSzPts val="1400"/>
              <a:buNone/>
              <a:defRPr/>
            </a:lvl1pPr>
          </a:lstStyle>
          <a:p/>
        </p:txBody>
      </p:sp>
      <p:sp>
        <p:nvSpPr>
          <p:cNvPr id="184" name="Google Shape;184;p2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85" name="Google Shape;185;p25"/>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86" name="Google Shape;186;p25"/>
          <p:cNvSpPr txBox="1"/>
          <p:nvPr>
            <p:ph idx="2"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r Content" type="blank">
  <p:cSld name="BLANK">
    <p:spTree>
      <p:nvGrpSpPr>
        <p:cNvPr id="187" name="Shape 187"/>
        <p:cNvGrpSpPr/>
        <p:nvPr/>
      </p:nvGrpSpPr>
      <p:grpSpPr>
        <a:xfrm>
          <a:off x="0" y="0"/>
          <a:ext cx="0" cy="0"/>
          <a:chOff x="0" y="0"/>
          <a:chExt cx="0" cy="0"/>
        </a:xfrm>
      </p:grpSpPr>
      <p:sp>
        <p:nvSpPr>
          <p:cNvPr id="188" name="Google Shape;188;p2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89" name="Google Shape;189;p26"/>
          <p:cNvPicPr preferRelativeResize="0"/>
          <p:nvPr/>
        </p:nvPicPr>
        <p:blipFill>
          <a:blip r:embed="rId2">
            <a:alphaModFix/>
          </a:blip>
          <a:stretch>
            <a:fillRect/>
          </a:stretch>
        </p:blipFill>
        <p:spPr>
          <a:xfrm>
            <a:off x="7182700" y="4768586"/>
            <a:ext cx="1030225" cy="182880"/>
          </a:xfrm>
          <a:prstGeom prst="rect">
            <a:avLst/>
          </a:prstGeom>
          <a:noFill/>
          <a:ln>
            <a:noFill/>
          </a:ln>
        </p:spPr>
      </p:pic>
      <p:sp>
        <p:nvSpPr>
          <p:cNvPr id="190" name="Google Shape;190;p26"/>
          <p:cNvSpPr txBox="1"/>
          <p:nvPr>
            <p:ph idx="1" type="subTitle"/>
          </p:nvPr>
        </p:nvSpPr>
        <p:spPr>
          <a:xfrm>
            <a:off x="454700" y="0"/>
            <a:ext cx="4466700" cy="438900"/>
          </a:xfrm>
          <a:prstGeom prst="rect">
            <a:avLst/>
          </a:prstGeom>
        </p:spPr>
        <p:txBody>
          <a:bodyPr anchorCtr="0" anchor="ctr" bIns="0" lIns="0" spcFirstLastPara="1" rIns="0" wrap="square" tIns="0">
            <a:noAutofit/>
          </a:bodyPr>
          <a:lstStyle>
            <a:lvl1pPr lvl="0" rtl="0">
              <a:spcBef>
                <a:spcPts val="0"/>
              </a:spcBef>
              <a:spcAft>
                <a:spcPts val="0"/>
              </a:spcAft>
              <a:buClr>
                <a:schemeClr val="lt2"/>
              </a:buClr>
              <a:buSzPts val="1200"/>
              <a:buNone/>
              <a:defRPr sz="1200">
                <a:solidFill>
                  <a:schemeClr val="lt2"/>
                </a:solidFill>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2">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3" name="Google Shape;193;p27"/>
          <p:cNvPicPr preferRelativeResize="0"/>
          <p:nvPr/>
        </p:nvPicPr>
        <p:blipFill>
          <a:blip r:embed="rId2">
            <a:alphaModFix/>
          </a:blip>
          <a:stretch>
            <a:fillRect/>
          </a:stretch>
        </p:blipFill>
        <p:spPr>
          <a:xfrm>
            <a:off x="7182700" y="4768586"/>
            <a:ext cx="1030225" cy="18288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Gold">
  <p:cSld name="BLANK_1">
    <p:spTree>
      <p:nvGrpSpPr>
        <p:cNvPr id="194" name="Shape 194"/>
        <p:cNvGrpSpPr/>
        <p:nvPr/>
      </p:nvGrpSpPr>
      <p:grpSpPr>
        <a:xfrm>
          <a:off x="0" y="0"/>
          <a:ext cx="0" cy="0"/>
          <a:chOff x="0" y="0"/>
          <a:chExt cx="0" cy="0"/>
        </a:xfrm>
      </p:grpSpPr>
      <p:sp>
        <p:nvSpPr>
          <p:cNvPr id="195" name="Google Shape;195;p2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2.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45025"/>
            <a:ext cx="8229600" cy="6402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200"/>
              <a:buFont typeface="Poppins Medium"/>
              <a:buNone/>
              <a:defRPr sz="22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2pPr>
            <a:lvl3pPr lvl="2">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3pPr>
            <a:lvl4pPr lvl="3">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4pPr>
            <a:lvl5pPr lvl="4">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5pPr>
            <a:lvl6pPr lvl="5">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6pPr>
            <a:lvl7pPr lvl="6">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7pPr>
            <a:lvl8pPr lvl="7">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8pPr>
            <a:lvl9pPr lvl="8">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457200" y="1645500"/>
            <a:ext cx="8229600" cy="2923500"/>
          </a:xfrm>
          <a:prstGeom prst="rect">
            <a:avLst/>
          </a:prstGeom>
          <a:noFill/>
          <a:ln>
            <a:noFill/>
          </a:ln>
        </p:spPr>
        <p:txBody>
          <a:bodyPr anchorCtr="0" anchor="t" bIns="0" lIns="0" spcFirstLastPara="1" rIns="0" wrap="square" tIns="0">
            <a:noAutofit/>
          </a:bodyPr>
          <a:lstStyle>
            <a:lvl1pPr indent="-317500" lvl="0" marL="4572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1pPr>
            <a:lvl2pPr indent="-304800" lvl="1" marL="9144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2pPr>
            <a:lvl3pPr indent="-304800" lvl="2" marL="13716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3pPr>
            <a:lvl4pPr indent="-304800" lvl="3" marL="18288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4pPr>
            <a:lvl5pPr indent="-304800" lvl="4" marL="22860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5pPr>
            <a:lvl6pPr indent="-304800" lvl="5" marL="27432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6pPr>
            <a:lvl7pPr indent="-304800" lvl="6" marL="32004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7pPr>
            <a:lvl8pPr indent="-304800" lvl="7" marL="36576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8pPr>
            <a:lvl9pPr indent="-304800" lvl="8" marL="4114800">
              <a:lnSpc>
                <a:spcPct val="115000"/>
              </a:lnSpc>
              <a:spcBef>
                <a:spcPts val="0"/>
              </a:spcBef>
              <a:spcAft>
                <a:spcPts val="0"/>
              </a:spcAft>
              <a:buClr>
                <a:schemeClr val="dk2"/>
              </a:buClr>
              <a:buSzPts val="1200"/>
              <a:buFont typeface="Poppins"/>
              <a:buChar char="■"/>
              <a:defRPr sz="1200">
                <a:solidFill>
                  <a:schemeClr val="dk2"/>
                </a:solidFill>
                <a:latin typeface="Poppins"/>
                <a:ea typeface="Poppins"/>
                <a:cs typeface="Poppins"/>
                <a:sym typeface="Poppins"/>
              </a:defRPr>
            </a:lvl9pPr>
          </a:lstStyle>
          <a:p/>
        </p:txBody>
      </p:sp>
      <p:sp>
        <p:nvSpPr>
          <p:cNvPr id="8" name="Google Shape;8;p1"/>
          <p:cNvSpPr txBox="1"/>
          <p:nvPr>
            <p:ph idx="12" type="sldNum"/>
          </p:nvPr>
        </p:nvSpPr>
        <p:spPr>
          <a:xfrm>
            <a:off x="8212926" y="4663225"/>
            <a:ext cx="4740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Poppins"/>
                <a:ea typeface="Poppins"/>
                <a:cs typeface="Poppins"/>
                <a:sym typeface="Poppins"/>
              </a:defRPr>
            </a:lvl1pPr>
            <a:lvl2pPr lvl="1" algn="r">
              <a:buNone/>
              <a:defRPr sz="900">
                <a:solidFill>
                  <a:schemeClr val="dk2"/>
                </a:solidFill>
                <a:latin typeface="Poppins"/>
                <a:ea typeface="Poppins"/>
                <a:cs typeface="Poppins"/>
                <a:sym typeface="Poppins"/>
              </a:defRPr>
            </a:lvl2pPr>
            <a:lvl3pPr lvl="2" algn="r">
              <a:buNone/>
              <a:defRPr sz="900">
                <a:solidFill>
                  <a:schemeClr val="dk2"/>
                </a:solidFill>
                <a:latin typeface="Poppins"/>
                <a:ea typeface="Poppins"/>
                <a:cs typeface="Poppins"/>
                <a:sym typeface="Poppins"/>
              </a:defRPr>
            </a:lvl3pPr>
            <a:lvl4pPr lvl="3" algn="r">
              <a:buNone/>
              <a:defRPr sz="900">
                <a:solidFill>
                  <a:schemeClr val="dk2"/>
                </a:solidFill>
                <a:latin typeface="Poppins"/>
                <a:ea typeface="Poppins"/>
                <a:cs typeface="Poppins"/>
                <a:sym typeface="Poppins"/>
              </a:defRPr>
            </a:lvl4pPr>
            <a:lvl5pPr lvl="4" algn="r">
              <a:buNone/>
              <a:defRPr sz="900">
                <a:solidFill>
                  <a:schemeClr val="dk2"/>
                </a:solidFill>
                <a:latin typeface="Poppins"/>
                <a:ea typeface="Poppins"/>
                <a:cs typeface="Poppins"/>
                <a:sym typeface="Poppins"/>
              </a:defRPr>
            </a:lvl5pPr>
            <a:lvl6pPr lvl="5" algn="r">
              <a:buNone/>
              <a:defRPr sz="900">
                <a:solidFill>
                  <a:schemeClr val="dk2"/>
                </a:solidFill>
                <a:latin typeface="Poppins"/>
                <a:ea typeface="Poppins"/>
                <a:cs typeface="Poppins"/>
                <a:sym typeface="Poppins"/>
              </a:defRPr>
            </a:lvl6pPr>
            <a:lvl7pPr lvl="6" algn="r">
              <a:buNone/>
              <a:defRPr sz="900">
                <a:solidFill>
                  <a:schemeClr val="dk2"/>
                </a:solidFill>
                <a:latin typeface="Poppins"/>
                <a:ea typeface="Poppins"/>
                <a:cs typeface="Poppins"/>
                <a:sym typeface="Poppins"/>
              </a:defRPr>
            </a:lvl7pPr>
            <a:lvl8pPr lvl="7" algn="r">
              <a:buNone/>
              <a:defRPr sz="900">
                <a:solidFill>
                  <a:schemeClr val="dk2"/>
                </a:solidFill>
                <a:latin typeface="Poppins"/>
                <a:ea typeface="Poppins"/>
                <a:cs typeface="Poppins"/>
                <a:sym typeface="Poppins"/>
              </a:defRPr>
            </a:lvl8pPr>
            <a:lvl9pPr lvl="8" algn="r">
              <a:buNone/>
              <a:defRPr sz="900">
                <a:solidFill>
                  <a:schemeClr val="dk2"/>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A4335"/>
          </p15:clr>
        </p15:guide>
        <p15:guide id="2" pos="5472">
          <p15:clr>
            <a:srgbClr val="EA4335"/>
          </p15:clr>
        </p15:guide>
        <p15:guide id="3" orient="horz" pos="280">
          <p15:clr>
            <a:srgbClr val="EA4335"/>
          </p15:clr>
        </p15:guide>
        <p15:guide id="4" orient="horz" pos="144">
          <p15:clr>
            <a:srgbClr val="EA4335"/>
          </p15:clr>
        </p15:guide>
        <p15:guide id="5" orient="horz" pos="864">
          <p15:clr>
            <a:srgbClr val="EA4335"/>
          </p15:clr>
        </p15:guide>
        <p15:guide id="6" orient="horz" pos="28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hyperlink" Target="https://sdgs.un.org/goals/goal7" TargetMode="External"/><Relationship Id="rId4" Type="http://schemas.openxmlformats.org/officeDocument/2006/relationships/hyperlink" Target="https://sdgs.un.org/goals/goal9" TargetMode="External"/><Relationship Id="rId9" Type="http://schemas.openxmlformats.org/officeDocument/2006/relationships/hyperlink" Target="https://sdgs.un.org/goals/goal15" TargetMode="External"/><Relationship Id="rId5" Type="http://schemas.openxmlformats.org/officeDocument/2006/relationships/hyperlink" Target="https://sdgs.un.org/goals/goal11" TargetMode="External"/><Relationship Id="rId6" Type="http://schemas.openxmlformats.org/officeDocument/2006/relationships/hyperlink" Target="https://sdgs.un.org/goals/goal12" TargetMode="External"/><Relationship Id="rId7" Type="http://schemas.openxmlformats.org/officeDocument/2006/relationships/hyperlink" Target="https://sdgs.un.org/goals/goal13" TargetMode="External"/><Relationship Id="rId8" Type="http://schemas.openxmlformats.org/officeDocument/2006/relationships/hyperlink" Target="https://sdgs.un.org/goals/goal14" TargetMode="External"/><Relationship Id="rId10"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s://www.nrcan.gc.ca/our-natural-resources/energy-sources-distribution/renewable-energy/about-renewable-energy/7295" TargetMode="External"/><Relationship Id="rId4" Type="http://schemas.openxmlformats.org/officeDocument/2006/relationships/hyperlink" Target="https://www.iea.org/news/renewable-electricity-growth-is-accelerating-faster-than-ever-worldwide-supporting-the-emergence-of-the-new-global-energy-economy" TargetMode="External"/><Relationship Id="rId5" Type="http://schemas.openxmlformats.org/officeDocument/2006/relationships/hyperlink" Target="https://oilprice.com/Alternative-Energy/Renewable-Energy/India-Ramps-Up-Renewable-Energy-Development.html" TargetMode="External"/><Relationship Id="rId6" Type="http://schemas.openxmlformats.org/officeDocument/2006/relationships/hyperlink" Target="https://www.theglobeandmail.com/opinion/editorials/article-does-the-future-of-clean-energy-include-nuclear-pow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hyperlink" Target="https://livingplanet.panda.org/en-us/" TargetMode="External"/><Relationship Id="rId4" Type="http://schemas.openxmlformats.org/officeDocument/2006/relationships/hyperlink" Target="https://www.mckinsey.com/business-functions/sustainability/our-insights/valuing-nature-conservation" TargetMode="External"/><Relationship Id="rId5" Type="http://schemas.openxmlformats.org/officeDocument/2006/relationships/hyperlink" Target="https://www.mckinsey.com/business-functions/sustainability/our-insights/valuing-nature-conservation" TargetMode="External"/><Relationship Id="rId6" Type="http://schemas.openxmlformats.org/officeDocument/2006/relationships/hyperlink" Target="https://www.mckinsey.com/business-functions/sustainability/our-insights/valuing-nature-conservati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hyperlink" Target="https://www.bsr.org/en/topics/climate-resilience" TargetMode="External"/><Relationship Id="rId4" Type="http://schemas.openxmlformats.org/officeDocument/2006/relationships/hyperlink" Target="https://livingplanet.panda.org/en-us/" TargetMode="External"/><Relationship Id="rId5" Type="http://schemas.openxmlformats.org/officeDocument/2006/relationships/hyperlink" Target="https://sdg.iisd.org/commentary/guest-articles/the-urgency-of-transforming-biodiversity-governanc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hyperlink" Target="https://www.mckinsey.com/business-functions/operations/our-insights/smart-cities-digital-solutions-for-a-more-livable-future" TargetMode="External"/><Relationship Id="rId4" Type="http://schemas.openxmlformats.org/officeDocument/2006/relationships/hyperlink" Target="https://www.cib.barclays/our-insights/Rethinking-smart-cities-prioritising-infrastructure.html?cid=paidsearch-textads_google_google_themes_smart_cities_we_research_general_phrase_300433502566&amp;gclid=Cj0KCQjwlMaGBhD3ARIsAPvWd6j4y3NEcfF0lP615n2dc9u39GbGdpTfj-lp2dfJfoiOXwwUswiS5mIaAsKrEALw_wcB&amp;gclsrc=aw.ds" TargetMode="External"/><Relationship Id="rId5" Type="http://schemas.openxmlformats.org/officeDocument/2006/relationships/hyperlink" Target="https://www.thalesgroup.com/en/worldwide-digital-identity-and-security/iot/magazine/singapore-worlds-smartest-city" TargetMode="External"/><Relationship Id="rId6" Type="http://schemas.openxmlformats.org/officeDocument/2006/relationships/hyperlink" Target="https://www.schoolofcities.utoronto.ca/news-tag/smart-citi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hyperlink" Target="https://www.statista.com/topics/7476/transportation-emissions-worldwide/#dossierKeyfigures" TargetMode="External"/><Relationship Id="rId4" Type="http://schemas.openxmlformats.org/officeDocument/2006/relationships/hyperlink" Target="https://www.mckinsey.com/business-functions/operations/our-insights/building-a-transport-system-that-works-five-insights-from-our-25-city-repor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hyperlink" Target="https://www.unep.org/explore-topics/resource-efficiency/what-we-do/sustainable-consumption-and-production-policies" TargetMode="External"/><Relationship Id="rId4" Type="http://schemas.openxmlformats.org/officeDocument/2006/relationships/hyperlink" Target="https://sdgs.un.org/goals/goal12" TargetMode="External"/><Relationship Id="rId5" Type="http://schemas.openxmlformats.org/officeDocument/2006/relationships/hyperlink" Target="https://www.bluechipfoundation.org/blue-chip-foundation-un-sustainable-development-goal-responsible-consumption-and-production" TargetMode="External"/><Relationship Id="rId6" Type="http://schemas.openxmlformats.org/officeDocument/2006/relationships/hyperlink" Target="https://www.koreatimes.co.kr/www/tech/2022/02/419_323435.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hyperlink" Target="https://climate.nasa.gov/global-warming-vs-climate-change/" TargetMode="External"/><Relationship Id="rId4" Type="http://schemas.openxmlformats.org/officeDocument/2006/relationships/hyperlink" Target="https://www.theweek.co.uk/93046/what-is-the-highest-uk-temperature-on-record" TargetMode="External"/><Relationship Id="rId5" Type="http://schemas.openxmlformats.org/officeDocument/2006/relationships/hyperlink" Target="http://forbes.com/sites/mariannelehnis/2022/12/29/2022-was-a-year-of-record-breaking-extreme-weather-events/?sh=3e211a9b736b" TargetMode="External"/><Relationship Id="rId6" Type="http://schemas.openxmlformats.org/officeDocument/2006/relationships/hyperlink" Target="https://www.worldwildlife.org/stories/cultivating-resilience-through-nature" TargetMode="External"/><Relationship Id="rId7" Type="http://schemas.openxmlformats.org/officeDocument/2006/relationships/hyperlink" Target="https://www.c2es.org/content/extreme-weather-and-climate-change/" TargetMode="External"/><Relationship Id="rId8" Type="http://schemas.openxmlformats.org/officeDocument/2006/relationships/hyperlink" Target="https://climate-adapt.eea.europa.eu/about/climate-adapt-10-case-studies-online.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hyperlink" Target="https://www.iea.org/fuels-and-technologies/carbon-capture-utilisation-and-storage" TargetMode="External"/><Relationship Id="rId4" Type="http://schemas.openxmlformats.org/officeDocument/2006/relationships/hyperlink" Target="https://www.c2es.org/content/carbon-capture/" TargetMode="External"/><Relationship Id="rId5" Type="http://schemas.openxmlformats.org/officeDocument/2006/relationships/hyperlink" Target="https://energy.mit.edu/news/a-case-study-of-the-petra-nova-carbon-capture-project/" TargetMode="External"/><Relationship Id="rId6" Type="http://schemas.openxmlformats.org/officeDocument/2006/relationships/hyperlink" Target="https://davidsuzuki.org/story/can-carbon-capture-help-resolve-the-climate-crisi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hyperlink" Target="https://www.sciencedirect.com/science/article/pii/S1877343521000749#:~:text=Biodiversity%20governance%20has%20traditionally%20relied,28%2C63%2C64%5D." TargetMode="External"/><Relationship Id="rId4" Type="http://schemas.openxmlformats.org/officeDocument/2006/relationships/hyperlink" Target="https://livingplanet.panda.org/en-us/" TargetMode="External"/><Relationship Id="rId5" Type="http://schemas.openxmlformats.org/officeDocument/2006/relationships/hyperlink" Target="https://sdg.iisd.org/commentary/guest-articles/the-urgency-of-transforming-biodiversity-governanc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hyperlink" Target="https://globalspark.world/hacktheglobe" TargetMode="External"/><Relationship Id="rId4" Type="http://schemas.openxmlformats.org/officeDocument/2006/relationships/image" Target="../media/image6.jpg"/><Relationship Id="rId5"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idx="4294967295" type="body"/>
          </p:nvPr>
        </p:nvSpPr>
        <p:spPr>
          <a:xfrm>
            <a:off x="597350" y="1414675"/>
            <a:ext cx="8089500" cy="2571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100">
                <a:solidFill>
                  <a:srgbClr val="000000"/>
                </a:solidFill>
              </a:rPr>
              <a:t>Each hackathon project will be built around a specific </a:t>
            </a:r>
            <a:r>
              <a:rPr b="1" lang="en" sz="1100">
                <a:solidFill>
                  <a:srgbClr val="000000"/>
                </a:solidFill>
              </a:rPr>
              <a:t>theme</a:t>
            </a:r>
            <a:r>
              <a:rPr lang="en" sz="1100">
                <a:solidFill>
                  <a:srgbClr val="000000"/>
                </a:solidFill>
              </a:rPr>
              <a:t> - a focus area that outlines the kind of problems you’ll be solving and the impact your solution aims to create. Themes are designed to help guide your creativity, give structure to your ideas, and ensure your project is aligned with the overall goals of the event.</a:t>
            </a:r>
            <a:endParaRPr sz="1100">
              <a:solidFill>
                <a:srgbClr val="000000"/>
              </a:solidFill>
            </a:endParaRPr>
          </a:p>
          <a:p>
            <a:pPr indent="0" lvl="0" marL="0" rtl="0" algn="l">
              <a:lnSpc>
                <a:spcPct val="115000"/>
              </a:lnSpc>
              <a:spcBef>
                <a:spcPts val="0"/>
              </a:spcBef>
              <a:spcAft>
                <a:spcPts val="0"/>
              </a:spcAft>
              <a:buNone/>
            </a:pPr>
            <a:r>
              <a:t/>
            </a:r>
            <a:endParaRPr sz="1100">
              <a:solidFill>
                <a:srgbClr val="000000"/>
              </a:solidFill>
            </a:endParaRPr>
          </a:p>
          <a:p>
            <a:pPr indent="0" lvl="0" marL="0" rtl="0" algn="l">
              <a:spcBef>
                <a:spcPts val="0"/>
              </a:spcBef>
              <a:spcAft>
                <a:spcPts val="0"/>
              </a:spcAft>
              <a:buNone/>
            </a:pPr>
            <a:r>
              <a:rPr lang="en" sz="1100">
                <a:solidFill>
                  <a:srgbClr val="000000"/>
                </a:solidFill>
              </a:rPr>
              <a:t>Your final project will be evaluated by a panel of judges who are </a:t>
            </a:r>
            <a:r>
              <a:rPr b="1" lang="en" sz="1100">
                <a:solidFill>
                  <a:srgbClr val="000000"/>
                </a:solidFill>
              </a:rPr>
              <a:t>experts in that theme’s domain</a:t>
            </a:r>
            <a:r>
              <a:rPr lang="en" sz="1100">
                <a:solidFill>
                  <a:srgbClr val="000000"/>
                </a:solidFill>
              </a:rPr>
              <a:t>. A strong alignment between your project and your chosen theme can </a:t>
            </a:r>
            <a:r>
              <a:rPr b="1" lang="en" sz="1100">
                <a:solidFill>
                  <a:srgbClr val="000000"/>
                </a:solidFill>
              </a:rPr>
              <a:t>significantly boost your score</a:t>
            </a:r>
            <a:r>
              <a:rPr lang="en" sz="1100">
                <a:solidFill>
                  <a:srgbClr val="000000"/>
                </a:solidFill>
              </a:rPr>
              <a:t>, as it shows you’ve understood the problem space, used relevant insights, and tailored your solution to the needs and opportunities in that area.</a:t>
            </a:r>
            <a:endParaRPr sz="1100">
              <a:solidFill>
                <a:srgbClr val="000000"/>
              </a:solidFill>
            </a:endParaRPr>
          </a:p>
          <a:p>
            <a:pPr indent="0" lvl="0" marL="0" rtl="0" algn="l">
              <a:spcBef>
                <a:spcPts val="1200"/>
              </a:spcBef>
              <a:spcAft>
                <a:spcPts val="0"/>
              </a:spcAft>
              <a:buNone/>
            </a:pPr>
            <a:r>
              <a:rPr lang="en" sz="1100">
                <a:solidFill>
                  <a:srgbClr val="000000"/>
                </a:solidFill>
              </a:rPr>
              <a:t>In short:</a:t>
            </a:r>
            <a:endParaRPr sz="1100">
              <a:solidFill>
                <a:srgbClr val="000000"/>
              </a:solidFil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rPr>
              <a:t>Themes help you </a:t>
            </a:r>
            <a:r>
              <a:rPr b="1" lang="en" sz="1100">
                <a:solidFill>
                  <a:srgbClr val="000000"/>
                </a:solidFill>
              </a:rPr>
              <a:t>focus</a:t>
            </a:r>
            <a:r>
              <a:rPr lang="en" sz="1100">
                <a:solidFill>
                  <a:srgbClr val="000000"/>
                </a:solidFill>
              </a:rPr>
              <a:t> your ideas.</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lang="en" sz="1100">
                <a:solidFill>
                  <a:srgbClr val="000000"/>
                </a:solidFill>
              </a:rPr>
              <a:t>Judges are </a:t>
            </a:r>
            <a:r>
              <a:rPr b="1" lang="en" sz="1100">
                <a:solidFill>
                  <a:srgbClr val="000000"/>
                </a:solidFill>
              </a:rPr>
              <a:t>specialists</a:t>
            </a:r>
            <a:r>
              <a:rPr lang="en" sz="1100">
                <a:solidFill>
                  <a:srgbClr val="000000"/>
                </a:solidFill>
              </a:rPr>
              <a:t> in the theme you choose.</a:t>
            </a:r>
            <a:endParaRPr sz="1100">
              <a:solidFill>
                <a:srgbClr val="000000"/>
              </a:solidFill>
            </a:endParaRPr>
          </a:p>
          <a:p>
            <a:pPr indent="-298450" lvl="0" marL="457200" rtl="0" algn="l">
              <a:spcBef>
                <a:spcPts val="0"/>
              </a:spcBef>
              <a:spcAft>
                <a:spcPts val="0"/>
              </a:spcAft>
              <a:buClr>
                <a:srgbClr val="000000"/>
              </a:buClr>
              <a:buSzPts val="1100"/>
              <a:buFont typeface="Arial"/>
              <a:buChar char="●"/>
            </a:pPr>
            <a:r>
              <a:rPr lang="en" sz="1100">
                <a:solidFill>
                  <a:srgbClr val="000000"/>
                </a:solidFill>
              </a:rPr>
              <a:t>The closer your solution matches the theme’s goals, the </a:t>
            </a:r>
            <a:r>
              <a:rPr b="1" lang="en" sz="1100">
                <a:solidFill>
                  <a:srgbClr val="000000"/>
                </a:solidFill>
              </a:rPr>
              <a:t>better your chances</a:t>
            </a:r>
            <a:r>
              <a:rPr lang="en" sz="1100">
                <a:solidFill>
                  <a:srgbClr val="000000"/>
                </a:solidFill>
              </a:rPr>
              <a:t> of impressing the panel.</a:t>
            </a:r>
            <a:endParaRPr b="1"/>
          </a:p>
          <a:p>
            <a:pPr indent="0" lvl="0" marL="0" rtl="0" algn="l">
              <a:lnSpc>
                <a:spcPct val="115000"/>
              </a:lnSpc>
              <a:spcBef>
                <a:spcPts val="1200"/>
              </a:spcBef>
              <a:spcAft>
                <a:spcPts val="0"/>
              </a:spcAft>
              <a:buNone/>
            </a:pPr>
            <a:r>
              <a:t/>
            </a:r>
            <a:endParaRPr/>
          </a:p>
        </p:txBody>
      </p:sp>
      <p:pic>
        <p:nvPicPr>
          <p:cNvPr id="201" name="Google Shape;201;p29" title="Screenshot 2025-08-12 at 10.50.41 PM.png"/>
          <p:cNvPicPr preferRelativeResize="0"/>
          <p:nvPr/>
        </p:nvPicPr>
        <p:blipFill>
          <a:blip r:embed="rId3">
            <a:alphaModFix/>
          </a:blip>
          <a:stretch>
            <a:fillRect/>
          </a:stretch>
        </p:blipFill>
        <p:spPr>
          <a:xfrm>
            <a:off x="457200" y="380475"/>
            <a:ext cx="2685476" cy="709850"/>
          </a:xfrm>
          <a:prstGeom prst="rect">
            <a:avLst/>
          </a:prstGeom>
          <a:noFill/>
          <a:ln>
            <a:noFill/>
          </a:ln>
        </p:spPr>
      </p:pic>
      <p:sp>
        <p:nvSpPr>
          <p:cNvPr id="202" name="Google Shape;202;p2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ctrTitle"/>
          </p:nvPr>
        </p:nvSpPr>
        <p:spPr>
          <a:xfrm>
            <a:off x="529563" y="2221775"/>
            <a:ext cx="7748700" cy="1510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solidFill>
                  <a:srgbClr val="595959"/>
                </a:solidFill>
              </a:rPr>
              <a:t>Sustainable Infrastructure</a:t>
            </a:r>
            <a:endParaRPr>
              <a:solidFill>
                <a:srgbClr val="595959"/>
              </a:solidFill>
            </a:endParaRPr>
          </a:p>
        </p:txBody>
      </p:sp>
      <p:sp>
        <p:nvSpPr>
          <p:cNvPr id="208" name="Google Shape;208;p30"/>
          <p:cNvSpPr/>
          <p:nvPr/>
        </p:nvSpPr>
        <p:spPr>
          <a:xfrm>
            <a:off x="177050" y="3227375"/>
            <a:ext cx="1848900" cy="739500"/>
          </a:xfrm>
          <a:prstGeom prst="rect">
            <a:avLst/>
          </a:prstGeom>
          <a:solidFill>
            <a:srgbClr val="FFFFFF"/>
          </a:solidFill>
          <a:ln cap="flat" cmpd="sng" w="9525">
            <a:solidFill>
              <a:srgbClr val="F5F6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0"/>
          <p:cNvSpPr txBox="1"/>
          <p:nvPr>
            <p:ph idx="1" type="subTitle"/>
          </p:nvPr>
        </p:nvSpPr>
        <p:spPr>
          <a:xfrm>
            <a:off x="529575" y="3238475"/>
            <a:ext cx="7942200" cy="717300"/>
          </a:xfrm>
          <a:prstGeom prst="rect">
            <a:avLst/>
          </a:prstGeom>
          <a:solidFill>
            <a:schemeClr val="lt1"/>
          </a:solidFill>
        </p:spPr>
        <p:txBody>
          <a:bodyPr anchorCtr="0" anchor="ctr" bIns="0" lIns="0" spcFirstLastPara="1" rIns="0" wrap="square" tIns="0">
            <a:noAutofit/>
          </a:bodyPr>
          <a:lstStyle/>
          <a:p>
            <a:pPr indent="0" lvl="0" marL="0" rtl="0" algn="l">
              <a:spcBef>
                <a:spcPts val="0"/>
              </a:spcBef>
              <a:spcAft>
                <a:spcPts val="0"/>
              </a:spcAft>
              <a:buNone/>
            </a:pPr>
            <a:r>
              <a:rPr lang="en"/>
              <a:t>Advancing </a:t>
            </a:r>
            <a:r>
              <a:rPr lang="en"/>
              <a:t>proactive and reactive sustainable solutions to mitigate key environmental challenges with urban and rural infrastructure</a:t>
            </a:r>
            <a:endParaRPr/>
          </a:p>
        </p:txBody>
      </p:sp>
      <p:pic>
        <p:nvPicPr>
          <p:cNvPr id="210" name="Google Shape;210;p30"/>
          <p:cNvPicPr preferRelativeResize="0"/>
          <p:nvPr/>
        </p:nvPicPr>
        <p:blipFill rotWithShape="1">
          <a:blip r:embed="rId3">
            <a:alphaModFix/>
          </a:blip>
          <a:srcRect b="60288" l="710" r="-710" t="20431"/>
          <a:stretch/>
        </p:blipFill>
        <p:spPr>
          <a:xfrm>
            <a:off x="-22550" y="-161475"/>
            <a:ext cx="9189075" cy="1213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Table of Contents</a:t>
            </a:r>
            <a:endParaRPr/>
          </a:p>
        </p:txBody>
      </p:sp>
      <p:sp>
        <p:nvSpPr>
          <p:cNvPr id="216" name="Google Shape;216;p31"/>
          <p:cNvSpPr txBox="1"/>
          <p:nvPr>
            <p:ph idx="1" type="body"/>
          </p:nvPr>
        </p:nvSpPr>
        <p:spPr>
          <a:xfrm>
            <a:off x="845575" y="1349475"/>
            <a:ext cx="5407800" cy="291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900"/>
              <a:t>Executive Summary</a:t>
            </a:r>
            <a:endParaRPr sz="1900"/>
          </a:p>
          <a:p>
            <a:pPr indent="0" lvl="0" marL="0" rtl="0" algn="l">
              <a:spcBef>
                <a:spcPts val="1200"/>
              </a:spcBef>
              <a:spcAft>
                <a:spcPts val="0"/>
              </a:spcAft>
              <a:buNone/>
            </a:pPr>
            <a:r>
              <a:rPr lang="en" sz="1900"/>
              <a:t>Overview</a:t>
            </a:r>
            <a:endParaRPr sz="1900"/>
          </a:p>
          <a:p>
            <a:pPr indent="0" lvl="0" marL="0" rtl="0" algn="l">
              <a:spcBef>
                <a:spcPts val="1200"/>
              </a:spcBef>
              <a:spcAft>
                <a:spcPts val="0"/>
              </a:spcAft>
              <a:buNone/>
            </a:pPr>
            <a:r>
              <a:rPr lang="en" sz="1900"/>
              <a:t>Relevant SDGs</a:t>
            </a:r>
            <a:endParaRPr sz="1900"/>
          </a:p>
          <a:p>
            <a:pPr indent="0" lvl="0" marL="0" rtl="0" algn="l">
              <a:spcBef>
                <a:spcPts val="1200"/>
              </a:spcBef>
              <a:spcAft>
                <a:spcPts val="0"/>
              </a:spcAft>
              <a:buNone/>
            </a:pPr>
            <a:r>
              <a:rPr lang="en" sz="1900"/>
              <a:t>Subthemes</a:t>
            </a:r>
            <a:endParaRPr sz="1900"/>
          </a:p>
          <a:p>
            <a:pPr indent="0" lvl="0" marL="0" rtl="0" algn="l">
              <a:spcBef>
                <a:spcPts val="1200"/>
              </a:spcBef>
              <a:spcAft>
                <a:spcPts val="1200"/>
              </a:spcAft>
              <a:buNone/>
            </a:pPr>
            <a:r>
              <a:rPr lang="en" sz="1900"/>
              <a:t>Examples</a:t>
            </a:r>
            <a:endParaRPr sz="1900"/>
          </a:p>
        </p:txBody>
      </p:sp>
      <p:sp>
        <p:nvSpPr>
          <p:cNvPr id="217" name="Google Shape;217;p3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8" name="Google Shape;218;p31"/>
          <p:cNvSpPr/>
          <p:nvPr/>
        </p:nvSpPr>
        <p:spPr>
          <a:xfrm>
            <a:off x="475488" y="1401625"/>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1</a:t>
            </a:r>
            <a:endParaRPr b="1">
              <a:solidFill>
                <a:srgbClr val="FFFFFF"/>
              </a:solidFill>
              <a:latin typeface="Century Gothic"/>
              <a:ea typeface="Century Gothic"/>
              <a:cs typeface="Century Gothic"/>
              <a:sym typeface="Century Gothic"/>
            </a:endParaRPr>
          </a:p>
        </p:txBody>
      </p:sp>
      <p:sp>
        <p:nvSpPr>
          <p:cNvPr id="219" name="Google Shape;219;p31"/>
          <p:cNvSpPr/>
          <p:nvPr/>
        </p:nvSpPr>
        <p:spPr>
          <a:xfrm>
            <a:off x="475488" y="1874520"/>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2</a:t>
            </a:r>
            <a:endParaRPr b="1">
              <a:solidFill>
                <a:srgbClr val="FFFFFF"/>
              </a:solidFill>
              <a:latin typeface="Century Gothic"/>
              <a:ea typeface="Century Gothic"/>
              <a:cs typeface="Century Gothic"/>
              <a:sym typeface="Century Gothic"/>
            </a:endParaRPr>
          </a:p>
        </p:txBody>
      </p:sp>
      <p:sp>
        <p:nvSpPr>
          <p:cNvPr id="220" name="Google Shape;220;p31"/>
          <p:cNvSpPr/>
          <p:nvPr/>
        </p:nvSpPr>
        <p:spPr>
          <a:xfrm>
            <a:off x="472500" y="2359152"/>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3</a:t>
            </a:r>
            <a:endParaRPr b="1">
              <a:solidFill>
                <a:srgbClr val="FFFFFF"/>
              </a:solidFill>
              <a:latin typeface="Century Gothic"/>
              <a:ea typeface="Century Gothic"/>
              <a:cs typeface="Century Gothic"/>
              <a:sym typeface="Century Gothic"/>
            </a:endParaRPr>
          </a:p>
        </p:txBody>
      </p:sp>
      <p:sp>
        <p:nvSpPr>
          <p:cNvPr id="221" name="Google Shape;221;p31"/>
          <p:cNvSpPr/>
          <p:nvPr/>
        </p:nvSpPr>
        <p:spPr>
          <a:xfrm>
            <a:off x="472500" y="2849425"/>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4</a:t>
            </a:r>
            <a:endParaRPr b="1">
              <a:solidFill>
                <a:srgbClr val="FFFFFF"/>
              </a:solidFill>
              <a:latin typeface="Century Gothic"/>
              <a:ea typeface="Century Gothic"/>
              <a:cs typeface="Century Gothic"/>
              <a:sym typeface="Century Gothic"/>
            </a:endParaRPr>
          </a:p>
        </p:txBody>
      </p:sp>
      <p:sp>
        <p:nvSpPr>
          <p:cNvPr id="222" name="Google Shape;222;p31"/>
          <p:cNvSpPr/>
          <p:nvPr/>
        </p:nvSpPr>
        <p:spPr>
          <a:xfrm>
            <a:off x="472500" y="3337560"/>
            <a:ext cx="220200" cy="220200"/>
          </a:xfrm>
          <a:prstGeom prst="ellipse">
            <a:avLst/>
          </a:prstGeom>
          <a:solidFill>
            <a:schemeClr val="accent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rgbClr val="FFFFFF"/>
                </a:solidFill>
              </a:rPr>
              <a:t>5</a:t>
            </a:r>
            <a:endParaRPr b="1">
              <a:solidFill>
                <a:srgbClr val="FFFFFF"/>
              </a:solidFill>
              <a:latin typeface="Century Gothic"/>
              <a:ea typeface="Century Gothic"/>
              <a:cs typeface="Century Gothic"/>
              <a:sym typeface="Century Gothic"/>
            </a:endParaRPr>
          </a:p>
        </p:txBody>
      </p:sp>
      <p:sp>
        <p:nvSpPr>
          <p:cNvPr id="223" name="Google Shape;223;p31"/>
          <p:cNvSpPr txBox="1"/>
          <p:nvPr>
            <p:ph idx="2" type="subTitle"/>
          </p:nvPr>
        </p:nvSpPr>
        <p:spPr>
          <a:xfrm>
            <a:off x="7140500" y="1400875"/>
            <a:ext cx="1308900" cy="31173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r>
              <a:rPr lang="en" sz="1900">
                <a:solidFill>
                  <a:schemeClr val="dk2"/>
                </a:solidFill>
              </a:rPr>
              <a:t>… 04</a:t>
            </a:r>
            <a:endParaRPr sz="1900">
              <a:solidFill>
                <a:schemeClr val="dk2"/>
              </a:solidFill>
            </a:endParaRPr>
          </a:p>
          <a:p>
            <a:pPr indent="0" lvl="0" marL="0" rtl="0" algn="r">
              <a:spcBef>
                <a:spcPts val="1200"/>
              </a:spcBef>
              <a:spcAft>
                <a:spcPts val="0"/>
              </a:spcAft>
              <a:buNone/>
            </a:pPr>
            <a:r>
              <a:rPr lang="en" sz="1900">
                <a:solidFill>
                  <a:schemeClr val="dk2"/>
                </a:solidFill>
              </a:rPr>
              <a:t>… 05</a:t>
            </a:r>
            <a:endParaRPr sz="1900">
              <a:solidFill>
                <a:schemeClr val="dk2"/>
              </a:solidFill>
            </a:endParaRPr>
          </a:p>
          <a:p>
            <a:pPr indent="0" lvl="0" marL="0" rtl="0" algn="r">
              <a:spcBef>
                <a:spcPts val="1200"/>
              </a:spcBef>
              <a:spcAft>
                <a:spcPts val="0"/>
              </a:spcAft>
              <a:buNone/>
            </a:pPr>
            <a:r>
              <a:rPr lang="en" sz="1900">
                <a:solidFill>
                  <a:schemeClr val="dk2"/>
                </a:solidFill>
              </a:rPr>
              <a:t>… 06</a:t>
            </a:r>
            <a:endParaRPr sz="1900">
              <a:solidFill>
                <a:schemeClr val="dk2"/>
              </a:solidFill>
            </a:endParaRPr>
          </a:p>
          <a:p>
            <a:pPr indent="0" lvl="0" marL="0" rtl="0" algn="r">
              <a:spcBef>
                <a:spcPts val="1200"/>
              </a:spcBef>
              <a:spcAft>
                <a:spcPts val="0"/>
              </a:spcAft>
              <a:buNone/>
            </a:pPr>
            <a:r>
              <a:rPr lang="en" sz="1900">
                <a:solidFill>
                  <a:schemeClr val="dk2"/>
                </a:solidFill>
              </a:rPr>
              <a:t>… 08</a:t>
            </a:r>
            <a:endParaRPr sz="1900">
              <a:solidFill>
                <a:schemeClr val="dk2"/>
              </a:solidFill>
            </a:endParaRPr>
          </a:p>
          <a:p>
            <a:pPr indent="0" lvl="0" marL="0" rtl="0" algn="r">
              <a:spcBef>
                <a:spcPts val="1200"/>
              </a:spcBef>
              <a:spcAft>
                <a:spcPts val="0"/>
              </a:spcAft>
              <a:buNone/>
            </a:pPr>
            <a:r>
              <a:rPr lang="en" sz="1900">
                <a:solidFill>
                  <a:schemeClr val="dk2"/>
                </a:solidFill>
              </a:rPr>
              <a:t>… 18</a:t>
            </a:r>
            <a:endParaRPr sz="1900">
              <a:solidFill>
                <a:schemeClr val="dk2"/>
              </a:solidFill>
            </a:endParaRPr>
          </a:p>
          <a:p>
            <a:pPr indent="0" lvl="0" marL="0" rtl="0" algn="ctr">
              <a:spcBef>
                <a:spcPts val="1200"/>
              </a:spcBef>
              <a:spcAft>
                <a:spcPts val="0"/>
              </a:spcAft>
              <a:buNone/>
            </a:pPr>
            <a:r>
              <a:rPr lang="en" sz="1900">
                <a:solidFill>
                  <a:schemeClr val="dk2"/>
                </a:solidFill>
              </a:rPr>
              <a:t>          </a:t>
            </a:r>
            <a:endParaRPr sz="1900">
              <a:solidFill>
                <a:schemeClr val="dk2"/>
              </a:solidFill>
            </a:endParaRPr>
          </a:p>
          <a:p>
            <a:pPr indent="0" lvl="0" marL="0" rtl="0" algn="r">
              <a:spcBef>
                <a:spcPts val="1200"/>
              </a:spcBef>
              <a:spcAft>
                <a:spcPts val="1200"/>
              </a:spcAft>
              <a:buNone/>
            </a:pPr>
            <a:r>
              <a:t/>
            </a:r>
            <a:endParaRPr sz="19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Executive Summary</a:t>
            </a:r>
            <a:endParaRPr/>
          </a:p>
        </p:txBody>
      </p:sp>
      <p:sp>
        <p:nvSpPr>
          <p:cNvPr id="229" name="Google Shape;229;p3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2"/>
          <p:cNvSpPr txBox="1"/>
          <p:nvPr>
            <p:ph idx="1" type="body"/>
          </p:nvPr>
        </p:nvSpPr>
        <p:spPr>
          <a:xfrm>
            <a:off x="457200" y="957600"/>
            <a:ext cx="8371200" cy="4053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a:t>Develop and deploy broad-based solutions not only to limit and mitigate future climate change, but to address challenges caused by changes in climate that have already arrived.</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u="sng"/>
              <a:t>Key UN SDGs</a:t>
            </a:r>
            <a:r>
              <a:rPr lang="en"/>
              <a:t>: SDG 7: </a:t>
            </a:r>
            <a:r>
              <a:rPr b="1" lang="en" u="sng">
                <a:solidFill>
                  <a:schemeClr val="hlink"/>
                </a:solidFill>
                <a:hlinkClick r:id="rId3"/>
              </a:rPr>
              <a:t>Affordable and Clean Energy</a:t>
            </a:r>
            <a:r>
              <a:rPr lang="en"/>
              <a:t>, SDG </a:t>
            </a:r>
            <a:r>
              <a:rPr lang="en"/>
              <a:t>9 - </a:t>
            </a:r>
            <a:r>
              <a:rPr b="1" lang="en" u="sng">
                <a:solidFill>
                  <a:schemeClr val="hlink"/>
                </a:solidFill>
                <a:hlinkClick r:id="rId4"/>
              </a:rPr>
              <a:t>Industry, Innovation, and Infrastructure</a:t>
            </a:r>
            <a:r>
              <a:rPr lang="en"/>
              <a:t>, SDG 11 - </a:t>
            </a:r>
            <a:r>
              <a:rPr b="1" lang="en" u="sng">
                <a:solidFill>
                  <a:schemeClr val="hlink"/>
                </a:solidFill>
                <a:hlinkClick r:id="rId5"/>
              </a:rPr>
              <a:t>Sustainable Cities and Communities</a:t>
            </a:r>
            <a:r>
              <a:rPr lang="en"/>
              <a:t>, SDG 12 - </a:t>
            </a:r>
            <a:r>
              <a:rPr b="1" lang="en" u="sng">
                <a:solidFill>
                  <a:schemeClr val="hlink"/>
                </a:solidFill>
                <a:hlinkClick r:id="rId6"/>
              </a:rPr>
              <a:t>Responsible Consumption and Production</a:t>
            </a:r>
            <a:r>
              <a:rPr lang="en"/>
              <a:t>, SDG 13 - </a:t>
            </a:r>
            <a:r>
              <a:rPr b="1" lang="en" u="sng">
                <a:solidFill>
                  <a:schemeClr val="hlink"/>
                </a:solidFill>
                <a:hlinkClick r:id="rId7"/>
              </a:rPr>
              <a:t>Climate Action</a:t>
            </a:r>
            <a:r>
              <a:rPr lang="en"/>
              <a:t>, SDG 14 - </a:t>
            </a:r>
            <a:r>
              <a:rPr b="1" lang="en" u="sng">
                <a:solidFill>
                  <a:schemeClr val="hlink"/>
                </a:solidFill>
                <a:hlinkClick r:id="rId8"/>
              </a:rPr>
              <a:t>Life Below Water</a:t>
            </a:r>
            <a:r>
              <a:rPr lang="en"/>
              <a:t>, SDG 15 - </a:t>
            </a:r>
            <a:r>
              <a:rPr b="1" lang="en" u="sng">
                <a:solidFill>
                  <a:schemeClr val="hlink"/>
                </a:solidFill>
                <a:hlinkClick r:id="rId9"/>
              </a:rPr>
              <a:t>Life on Land</a:t>
            </a:r>
            <a:endParaRPr b="1"/>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rPr lang="en" u="sng"/>
              <a:t>Subthemes</a:t>
            </a:r>
            <a:r>
              <a:rPr lang="en"/>
              <a:t>:</a:t>
            </a:r>
            <a:r>
              <a:rPr b="1" lang="en"/>
              <a:t> </a:t>
            </a:r>
            <a:endParaRPr b="1"/>
          </a:p>
          <a:p>
            <a:pPr indent="-317500" lvl="0" marL="457200" rtl="0" algn="l">
              <a:lnSpc>
                <a:spcPct val="100000"/>
              </a:lnSpc>
              <a:spcBef>
                <a:spcPts val="1200"/>
              </a:spcBef>
              <a:spcAft>
                <a:spcPts val="0"/>
              </a:spcAft>
              <a:buClr>
                <a:srgbClr val="595959"/>
              </a:buClr>
              <a:buSzPts val="1400"/>
              <a:buChar char="●"/>
            </a:pPr>
            <a:r>
              <a:rPr lang="en">
                <a:solidFill>
                  <a:srgbClr val="595959"/>
                </a:solidFill>
              </a:rPr>
              <a:t>Clean Energy</a:t>
            </a:r>
            <a:endParaRPr>
              <a:solidFill>
                <a:srgbClr val="595959"/>
              </a:solidFill>
            </a:endParaRPr>
          </a:p>
          <a:p>
            <a:pPr indent="-317500" lvl="0" marL="457200" rtl="0" algn="l">
              <a:lnSpc>
                <a:spcPct val="100000"/>
              </a:lnSpc>
              <a:spcBef>
                <a:spcPts val="0"/>
              </a:spcBef>
              <a:spcAft>
                <a:spcPts val="0"/>
              </a:spcAft>
              <a:buClr>
                <a:srgbClr val="595959"/>
              </a:buClr>
              <a:buSzPts val="1400"/>
              <a:buChar char="●"/>
            </a:pPr>
            <a:r>
              <a:rPr lang="en">
                <a:solidFill>
                  <a:srgbClr val="595959"/>
                </a:solidFill>
              </a:rPr>
              <a:t>Ecosystem Conservation</a:t>
            </a:r>
            <a:endParaRPr>
              <a:solidFill>
                <a:srgbClr val="595959"/>
              </a:solidFill>
            </a:endParaRPr>
          </a:p>
          <a:p>
            <a:pPr indent="-317500" lvl="0" marL="457200" rtl="0" algn="l">
              <a:lnSpc>
                <a:spcPct val="100000"/>
              </a:lnSpc>
              <a:spcBef>
                <a:spcPts val="0"/>
              </a:spcBef>
              <a:spcAft>
                <a:spcPts val="0"/>
              </a:spcAft>
              <a:buClr>
                <a:srgbClr val="595959"/>
              </a:buClr>
              <a:buSzPts val="1400"/>
              <a:buChar char="●"/>
            </a:pPr>
            <a:r>
              <a:rPr lang="en">
                <a:solidFill>
                  <a:srgbClr val="595959"/>
                </a:solidFill>
              </a:rPr>
              <a:t>Urban Resilience </a:t>
            </a:r>
            <a:endParaRPr>
              <a:solidFill>
                <a:srgbClr val="595959"/>
              </a:solidFill>
            </a:endParaRPr>
          </a:p>
          <a:p>
            <a:pPr indent="-317500" lvl="0" marL="457200" rtl="0" algn="l">
              <a:lnSpc>
                <a:spcPct val="100000"/>
              </a:lnSpc>
              <a:spcBef>
                <a:spcPts val="0"/>
              </a:spcBef>
              <a:spcAft>
                <a:spcPts val="0"/>
              </a:spcAft>
              <a:buClr>
                <a:srgbClr val="595959"/>
              </a:buClr>
              <a:buSzPts val="1400"/>
              <a:buChar char="●"/>
            </a:pPr>
            <a:r>
              <a:rPr lang="en">
                <a:solidFill>
                  <a:srgbClr val="595959"/>
                </a:solidFill>
              </a:rPr>
              <a:t>Smart Cities</a:t>
            </a:r>
            <a:endParaRPr>
              <a:solidFill>
                <a:srgbClr val="595959"/>
              </a:solidFill>
            </a:endParaRPr>
          </a:p>
          <a:p>
            <a:pPr indent="-317500" lvl="0" marL="457200" rtl="0" algn="l">
              <a:lnSpc>
                <a:spcPct val="100000"/>
              </a:lnSpc>
              <a:spcBef>
                <a:spcPts val="0"/>
              </a:spcBef>
              <a:spcAft>
                <a:spcPts val="0"/>
              </a:spcAft>
              <a:buClr>
                <a:srgbClr val="595959"/>
              </a:buClr>
              <a:buSzPts val="1400"/>
              <a:buChar char="●"/>
            </a:pPr>
            <a:r>
              <a:rPr lang="en">
                <a:solidFill>
                  <a:srgbClr val="595959"/>
                </a:solidFill>
              </a:rPr>
              <a:t>Transportation &amp; Infrastructure</a:t>
            </a:r>
            <a:endParaRPr>
              <a:solidFill>
                <a:srgbClr val="595959"/>
              </a:solidFill>
            </a:endParaRPr>
          </a:p>
          <a:p>
            <a:pPr indent="0" lvl="0" marL="0" rtl="0" algn="l">
              <a:lnSpc>
                <a:spcPct val="100000"/>
              </a:lnSpc>
              <a:spcBef>
                <a:spcPts val="1200"/>
              </a:spcBef>
              <a:spcAft>
                <a:spcPts val="0"/>
              </a:spcAft>
              <a:buNone/>
            </a:pPr>
            <a:r>
              <a:t/>
            </a:r>
            <a:endParaRPr b="1"/>
          </a:p>
          <a:p>
            <a:pPr indent="0" lvl="0" marL="0" rtl="0" algn="l">
              <a:lnSpc>
                <a:spcPct val="115000"/>
              </a:lnSpc>
              <a:spcBef>
                <a:spcPts val="0"/>
              </a:spcBef>
              <a:spcAft>
                <a:spcPts val="0"/>
              </a:spcAft>
              <a:buNone/>
            </a:pPr>
            <a:r>
              <a:t/>
            </a:r>
            <a:endParaRPr/>
          </a:p>
        </p:txBody>
      </p:sp>
      <p:sp>
        <p:nvSpPr>
          <p:cNvPr id="231" name="Google Shape;231;p32"/>
          <p:cNvSpPr txBox="1"/>
          <p:nvPr/>
        </p:nvSpPr>
        <p:spPr>
          <a:xfrm>
            <a:off x="3638000" y="3117925"/>
            <a:ext cx="3015600" cy="1793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rgbClr val="595959"/>
              </a:buClr>
              <a:buSzPts val="1400"/>
              <a:buFont typeface="Poppins"/>
              <a:buChar char="●"/>
            </a:pPr>
            <a:r>
              <a:rPr lang="en">
                <a:solidFill>
                  <a:srgbClr val="595959"/>
                </a:solidFill>
                <a:latin typeface="Poppins"/>
                <a:ea typeface="Poppins"/>
                <a:cs typeface="Poppins"/>
                <a:sym typeface="Poppins"/>
              </a:rPr>
              <a:t>Sustainable Consumption</a:t>
            </a:r>
            <a:endParaRPr>
              <a:solidFill>
                <a:srgbClr val="595959"/>
              </a:solidFill>
              <a:latin typeface="Poppins"/>
              <a:ea typeface="Poppins"/>
              <a:cs typeface="Poppins"/>
              <a:sym typeface="Poppins"/>
            </a:endParaRPr>
          </a:p>
          <a:p>
            <a:pPr indent="-317500" lvl="0" marL="457200" rtl="0" algn="l">
              <a:lnSpc>
                <a:spcPct val="115000"/>
              </a:lnSpc>
              <a:spcBef>
                <a:spcPts val="0"/>
              </a:spcBef>
              <a:spcAft>
                <a:spcPts val="0"/>
              </a:spcAft>
              <a:buClr>
                <a:srgbClr val="595959"/>
              </a:buClr>
              <a:buSzPts val="1400"/>
              <a:buFont typeface="Poppins"/>
              <a:buChar char="●"/>
            </a:pPr>
            <a:r>
              <a:rPr lang="en">
                <a:solidFill>
                  <a:srgbClr val="595959"/>
                </a:solidFill>
                <a:latin typeface="Poppins"/>
                <a:ea typeface="Poppins"/>
                <a:cs typeface="Poppins"/>
                <a:sym typeface="Poppins"/>
              </a:rPr>
              <a:t>Climate Change</a:t>
            </a:r>
            <a:endParaRPr>
              <a:solidFill>
                <a:srgbClr val="595959"/>
              </a:solidFill>
              <a:latin typeface="Poppins"/>
              <a:ea typeface="Poppins"/>
              <a:cs typeface="Poppins"/>
              <a:sym typeface="Poppins"/>
            </a:endParaRPr>
          </a:p>
          <a:p>
            <a:pPr indent="-317500" lvl="0" marL="457200" rtl="0" algn="l">
              <a:lnSpc>
                <a:spcPct val="115000"/>
              </a:lnSpc>
              <a:spcBef>
                <a:spcPts val="0"/>
              </a:spcBef>
              <a:spcAft>
                <a:spcPts val="0"/>
              </a:spcAft>
              <a:buClr>
                <a:srgbClr val="595959"/>
              </a:buClr>
              <a:buSzPts val="1400"/>
              <a:buFont typeface="Poppins"/>
              <a:buChar char="●"/>
            </a:pPr>
            <a:r>
              <a:rPr lang="en">
                <a:solidFill>
                  <a:srgbClr val="595959"/>
                </a:solidFill>
                <a:latin typeface="Poppins"/>
                <a:ea typeface="Poppins"/>
                <a:cs typeface="Poppins"/>
                <a:sym typeface="Poppins"/>
              </a:rPr>
              <a:t>Pollution: Carbon Capture &amp; Sequestration </a:t>
            </a:r>
            <a:endParaRPr>
              <a:solidFill>
                <a:srgbClr val="595959"/>
              </a:solidFill>
              <a:latin typeface="Poppins"/>
              <a:ea typeface="Poppins"/>
              <a:cs typeface="Poppins"/>
              <a:sym typeface="Poppins"/>
            </a:endParaRPr>
          </a:p>
          <a:p>
            <a:pPr indent="-317500" lvl="0" marL="457200" rtl="0" algn="l">
              <a:lnSpc>
                <a:spcPct val="115000"/>
              </a:lnSpc>
              <a:spcBef>
                <a:spcPts val="0"/>
              </a:spcBef>
              <a:spcAft>
                <a:spcPts val="0"/>
              </a:spcAft>
              <a:buClr>
                <a:srgbClr val="595959"/>
              </a:buClr>
              <a:buSzPts val="1400"/>
              <a:buFont typeface="Poppins"/>
              <a:buChar char="●"/>
            </a:pPr>
            <a:r>
              <a:rPr lang="en">
                <a:solidFill>
                  <a:schemeClr val="dk2"/>
                </a:solidFill>
                <a:latin typeface="Poppins"/>
                <a:ea typeface="Poppins"/>
                <a:cs typeface="Poppins"/>
                <a:sym typeface="Poppins"/>
              </a:rPr>
              <a:t>Biodiversity Governance</a:t>
            </a:r>
            <a:endParaRPr>
              <a:solidFill>
                <a:srgbClr val="595959"/>
              </a:solidFill>
              <a:latin typeface="Poppins"/>
              <a:ea typeface="Poppins"/>
              <a:cs typeface="Poppins"/>
              <a:sym typeface="Poppins"/>
            </a:endParaRPr>
          </a:p>
          <a:p>
            <a:pPr indent="0" lvl="0" marL="0" rtl="0" algn="l">
              <a:spcBef>
                <a:spcPts val="1200"/>
              </a:spcBef>
              <a:spcAft>
                <a:spcPts val="0"/>
              </a:spcAft>
              <a:buNone/>
            </a:pPr>
            <a:r>
              <a:t/>
            </a:r>
            <a:endParaRPr>
              <a:latin typeface="Poppins"/>
              <a:ea typeface="Poppins"/>
              <a:cs typeface="Poppins"/>
              <a:sym typeface="Poppins"/>
            </a:endParaRPr>
          </a:p>
        </p:txBody>
      </p:sp>
      <p:cxnSp>
        <p:nvCxnSpPr>
          <p:cNvPr id="232" name="Google Shape;232;p32"/>
          <p:cNvCxnSpPr/>
          <p:nvPr/>
        </p:nvCxnSpPr>
        <p:spPr>
          <a:xfrm flipH="1" rot="10800000">
            <a:off x="457200" y="897250"/>
            <a:ext cx="750900" cy="9900"/>
          </a:xfrm>
          <a:prstGeom prst="straightConnector1">
            <a:avLst/>
          </a:prstGeom>
          <a:noFill/>
          <a:ln cap="flat" cmpd="sng" w="19050">
            <a:solidFill>
              <a:srgbClr val="F1BC00"/>
            </a:solidFill>
            <a:prstDash val="solid"/>
            <a:round/>
            <a:headEnd len="med" w="med" type="none"/>
            <a:tailEnd len="med" w="med" type="none"/>
          </a:ln>
        </p:spPr>
      </p:cxnSp>
      <p:pic>
        <p:nvPicPr>
          <p:cNvPr id="233" name="Google Shape;233;p32"/>
          <p:cNvPicPr preferRelativeResize="0"/>
          <p:nvPr/>
        </p:nvPicPr>
        <p:blipFill rotWithShape="1">
          <a:blip r:embed="rId10">
            <a:alphaModFix/>
          </a:blip>
          <a:srcRect b="0" l="4064" r="74019" t="0"/>
          <a:stretch/>
        </p:blipFill>
        <p:spPr>
          <a:xfrm>
            <a:off x="6895049" y="2995150"/>
            <a:ext cx="1686748" cy="1573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3"/>
          <p:cNvSpPr/>
          <p:nvPr/>
        </p:nvSpPr>
        <p:spPr>
          <a:xfrm>
            <a:off x="4759200" y="685463"/>
            <a:ext cx="4256700" cy="3922575"/>
          </a:xfrm>
          <a:prstGeom prst="flowChartProcess">
            <a:avLst/>
          </a:prstGeom>
          <a:solidFill>
            <a:srgbClr val="F1B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3"/>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Overview</a:t>
            </a:r>
            <a:endParaRPr/>
          </a:p>
        </p:txBody>
      </p:sp>
      <p:sp>
        <p:nvSpPr>
          <p:cNvPr id="240" name="Google Shape;240;p3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33"/>
          <p:cNvSpPr txBox="1"/>
          <p:nvPr/>
        </p:nvSpPr>
        <p:spPr>
          <a:xfrm>
            <a:off x="457200" y="3117925"/>
            <a:ext cx="3780300" cy="154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solidFill>
                <a:schemeClr val="dk2"/>
              </a:solidFill>
              <a:latin typeface="Poppins"/>
              <a:ea typeface="Poppins"/>
              <a:cs typeface="Poppins"/>
              <a:sym typeface="Poppins"/>
            </a:endParaRPr>
          </a:p>
          <a:p>
            <a:pPr indent="0" lvl="0" marL="0" rtl="0" algn="l">
              <a:lnSpc>
                <a:spcPct val="115000"/>
              </a:lnSpc>
              <a:spcBef>
                <a:spcPts val="1200"/>
              </a:spcBef>
              <a:spcAft>
                <a:spcPts val="1200"/>
              </a:spcAft>
              <a:buNone/>
            </a:pPr>
            <a:r>
              <a:rPr lang="en">
                <a:solidFill>
                  <a:schemeClr val="accent1"/>
                </a:solidFill>
                <a:latin typeface="Poppins"/>
                <a:ea typeface="Poppins"/>
                <a:cs typeface="Poppins"/>
                <a:sym typeface="Poppins"/>
              </a:rPr>
              <a:t>How can we </a:t>
            </a:r>
            <a:r>
              <a:rPr b="1" lang="en">
                <a:solidFill>
                  <a:schemeClr val="accent1"/>
                </a:solidFill>
                <a:latin typeface="Poppins"/>
                <a:ea typeface="Poppins"/>
                <a:cs typeface="Poppins"/>
                <a:sym typeface="Poppins"/>
              </a:rPr>
              <a:t>future-proof </a:t>
            </a:r>
            <a:r>
              <a:rPr lang="en">
                <a:solidFill>
                  <a:schemeClr val="accent1"/>
                </a:solidFill>
                <a:latin typeface="Poppins"/>
                <a:ea typeface="Poppins"/>
                <a:cs typeface="Poppins"/>
                <a:sym typeface="Poppins"/>
              </a:rPr>
              <a:t>the environment for everyone? And how can we urgently respond to the important challenges already occurring?</a:t>
            </a:r>
            <a:endParaRPr>
              <a:solidFill>
                <a:schemeClr val="accent1"/>
              </a:solidFill>
            </a:endParaRPr>
          </a:p>
        </p:txBody>
      </p:sp>
      <p:sp>
        <p:nvSpPr>
          <p:cNvPr id="242" name="Google Shape;242;p33"/>
          <p:cNvSpPr/>
          <p:nvPr/>
        </p:nvSpPr>
        <p:spPr>
          <a:xfrm>
            <a:off x="4920013" y="906113"/>
            <a:ext cx="3935075" cy="3481300"/>
          </a:xfrm>
          <a:prstGeom prst="flowChartProcess">
            <a:avLst/>
          </a:prstGeom>
          <a:solidFill>
            <a:srgbClr val="F5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3" name="Google Shape;243;p33"/>
          <p:cNvPicPr preferRelativeResize="0"/>
          <p:nvPr/>
        </p:nvPicPr>
        <p:blipFill>
          <a:blip r:embed="rId3">
            <a:alphaModFix/>
          </a:blip>
          <a:stretch>
            <a:fillRect/>
          </a:stretch>
        </p:blipFill>
        <p:spPr>
          <a:xfrm>
            <a:off x="4759200" y="1252800"/>
            <a:ext cx="4256700" cy="2914251"/>
          </a:xfrm>
          <a:prstGeom prst="rect">
            <a:avLst/>
          </a:prstGeom>
          <a:noFill/>
          <a:ln>
            <a:noFill/>
          </a:ln>
        </p:spPr>
      </p:pic>
      <p:cxnSp>
        <p:nvCxnSpPr>
          <p:cNvPr id="244" name="Google Shape;244;p33"/>
          <p:cNvCxnSpPr/>
          <p:nvPr/>
        </p:nvCxnSpPr>
        <p:spPr>
          <a:xfrm flipH="1" rot="10800000">
            <a:off x="457200" y="906125"/>
            <a:ext cx="750900" cy="9900"/>
          </a:xfrm>
          <a:prstGeom prst="straightConnector1">
            <a:avLst/>
          </a:prstGeom>
          <a:noFill/>
          <a:ln cap="flat" cmpd="sng" w="19050">
            <a:solidFill>
              <a:srgbClr val="F1BC00"/>
            </a:solidFill>
            <a:prstDash val="solid"/>
            <a:round/>
            <a:headEnd len="med" w="med" type="none"/>
            <a:tailEnd len="med" w="med" type="none"/>
          </a:ln>
        </p:spPr>
      </p:cxnSp>
      <p:sp>
        <p:nvSpPr>
          <p:cNvPr id="245" name="Google Shape;245;p33"/>
          <p:cNvSpPr txBox="1"/>
          <p:nvPr/>
        </p:nvSpPr>
        <p:spPr>
          <a:xfrm>
            <a:off x="457200" y="1005050"/>
            <a:ext cx="3869100" cy="249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200">
                <a:solidFill>
                  <a:schemeClr val="dk2"/>
                </a:solidFill>
                <a:latin typeface="Poppins"/>
                <a:ea typeface="Poppins"/>
                <a:cs typeface="Poppins"/>
                <a:sym typeface="Poppins"/>
              </a:rPr>
              <a:t>Societies and communities around the globe are contending with an uncertain future as our climate changes. Coastal communities will need to contend with sea level rise and severe storms while the interior of continents will see more weather extremes - both hot and cold, wet and dry. </a:t>
            </a:r>
            <a:r>
              <a:rPr lang="en" sz="1200">
                <a:solidFill>
                  <a:schemeClr val="dk2"/>
                </a:solidFill>
                <a:latin typeface="Poppins"/>
                <a:ea typeface="Poppins"/>
                <a:cs typeface="Poppins"/>
                <a:sym typeface="Poppins"/>
              </a:rPr>
              <a:t>Sustainable development must result from the improvement of renewable resources systems, or the implementation of green investment functions, which maintain the resource base's stability.</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4"/>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UN SDGs</a:t>
            </a:r>
            <a:endParaRPr/>
          </a:p>
        </p:txBody>
      </p:sp>
      <p:sp>
        <p:nvSpPr>
          <p:cNvPr id="251" name="Google Shape;251;p3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2" name="Google Shape;252;p34"/>
          <p:cNvSpPr txBox="1"/>
          <p:nvPr>
            <p:ph idx="1" type="body"/>
          </p:nvPr>
        </p:nvSpPr>
        <p:spPr>
          <a:xfrm>
            <a:off x="457200" y="1645518"/>
            <a:ext cx="3854400" cy="12144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Ensure access to affordable, reliable, sustainable and modern energy for all.</a:t>
            </a:r>
            <a:endParaRPr/>
          </a:p>
        </p:txBody>
      </p:sp>
      <p:sp>
        <p:nvSpPr>
          <p:cNvPr id="253" name="Google Shape;253;p34"/>
          <p:cNvSpPr txBox="1"/>
          <p:nvPr>
            <p:ph idx="2" type="body"/>
          </p:nvPr>
        </p:nvSpPr>
        <p:spPr>
          <a:xfrm>
            <a:off x="4832400" y="1843847"/>
            <a:ext cx="3854400" cy="12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Build resilient infrastructure, promote inclusive and sustainable industrialization and foster innovation.</a:t>
            </a:r>
            <a:endParaRPr/>
          </a:p>
          <a:p>
            <a:pPr indent="0" lvl="0" marL="0" rtl="0" algn="l">
              <a:spcBef>
                <a:spcPts val="1200"/>
              </a:spcBef>
              <a:spcAft>
                <a:spcPts val="1200"/>
              </a:spcAft>
              <a:buNone/>
            </a:pPr>
            <a:r>
              <a:t/>
            </a:r>
            <a:endParaRPr/>
          </a:p>
        </p:txBody>
      </p:sp>
      <p:sp>
        <p:nvSpPr>
          <p:cNvPr id="254" name="Google Shape;254;p34"/>
          <p:cNvSpPr txBox="1"/>
          <p:nvPr>
            <p:ph idx="4" type="subTitle"/>
          </p:nvPr>
        </p:nvSpPr>
        <p:spPr>
          <a:xfrm>
            <a:off x="457200" y="1228413"/>
            <a:ext cx="3858900" cy="273900"/>
          </a:xfrm>
          <a:prstGeom prst="rect">
            <a:avLst/>
          </a:prstGeom>
          <a:noFill/>
        </p:spPr>
        <p:txBody>
          <a:bodyPr anchorCtr="0" anchor="ctr" bIns="0" lIns="0" spcFirstLastPara="1" rIns="0" wrap="square" tIns="0">
            <a:noAutofit/>
          </a:bodyPr>
          <a:lstStyle/>
          <a:p>
            <a:pPr indent="0" lvl="0" marL="0" rtl="0" algn="l">
              <a:spcBef>
                <a:spcPts val="0"/>
              </a:spcBef>
              <a:spcAft>
                <a:spcPts val="1200"/>
              </a:spcAft>
              <a:buNone/>
            </a:pPr>
            <a:r>
              <a:rPr lang="en"/>
              <a:t>#7: Affordable and Clean Energy</a:t>
            </a:r>
            <a:endParaRPr/>
          </a:p>
        </p:txBody>
      </p:sp>
      <p:sp>
        <p:nvSpPr>
          <p:cNvPr id="255" name="Google Shape;255;p34"/>
          <p:cNvSpPr txBox="1"/>
          <p:nvPr>
            <p:ph idx="5" type="subTitle"/>
          </p:nvPr>
        </p:nvSpPr>
        <p:spPr>
          <a:xfrm>
            <a:off x="4830150" y="1228428"/>
            <a:ext cx="3858900" cy="560400"/>
          </a:xfrm>
          <a:prstGeom prst="rect">
            <a:avLst/>
          </a:prstGeom>
          <a:noFill/>
        </p:spPr>
        <p:txBody>
          <a:bodyPr anchorCtr="0" anchor="ctr" bIns="0" lIns="0" spcFirstLastPara="1" rIns="0" wrap="square" tIns="0">
            <a:noAutofit/>
          </a:bodyPr>
          <a:lstStyle/>
          <a:p>
            <a:pPr indent="0" lvl="0" marL="0" rtl="0" algn="l">
              <a:spcBef>
                <a:spcPts val="0"/>
              </a:spcBef>
              <a:spcAft>
                <a:spcPts val="1200"/>
              </a:spcAft>
              <a:buNone/>
            </a:pPr>
            <a:r>
              <a:rPr lang="en"/>
              <a:t>#9: Industry, Innovation, and Infrastructure</a:t>
            </a:r>
            <a:endParaRPr/>
          </a:p>
        </p:txBody>
      </p:sp>
      <p:sp>
        <p:nvSpPr>
          <p:cNvPr id="256" name="Google Shape;256;p34"/>
          <p:cNvSpPr txBox="1"/>
          <p:nvPr>
            <p:ph idx="1" type="body"/>
          </p:nvPr>
        </p:nvSpPr>
        <p:spPr>
          <a:xfrm>
            <a:off x="456075" y="3277418"/>
            <a:ext cx="3854400" cy="12144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Make cities and human settlements inclusive, safe, resilient and sustainable.</a:t>
            </a:r>
            <a:endParaRPr/>
          </a:p>
        </p:txBody>
      </p:sp>
      <p:sp>
        <p:nvSpPr>
          <p:cNvPr id="257" name="Google Shape;257;p34"/>
          <p:cNvSpPr txBox="1"/>
          <p:nvPr>
            <p:ph idx="2" type="body"/>
          </p:nvPr>
        </p:nvSpPr>
        <p:spPr>
          <a:xfrm>
            <a:off x="4831275" y="3277822"/>
            <a:ext cx="3854400" cy="12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Ensure sustainable consumption and production patterns.</a:t>
            </a:r>
            <a:endParaRPr/>
          </a:p>
          <a:p>
            <a:pPr indent="0" lvl="0" marL="0" rtl="0" algn="l">
              <a:spcBef>
                <a:spcPts val="1200"/>
              </a:spcBef>
              <a:spcAft>
                <a:spcPts val="1200"/>
              </a:spcAft>
              <a:buNone/>
            </a:pPr>
            <a:r>
              <a:t/>
            </a:r>
            <a:endParaRPr/>
          </a:p>
        </p:txBody>
      </p:sp>
      <p:sp>
        <p:nvSpPr>
          <p:cNvPr id="258" name="Google Shape;258;p34"/>
          <p:cNvSpPr txBox="1"/>
          <p:nvPr>
            <p:ph idx="4" type="subTitle"/>
          </p:nvPr>
        </p:nvSpPr>
        <p:spPr>
          <a:xfrm>
            <a:off x="456075" y="2860313"/>
            <a:ext cx="3858900" cy="273900"/>
          </a:xfrm>
          <a:prstGeom prst="rect">
            <a:avLst/>
          </a:prstGeom>
          <a:noFill/>
        </p:spPr>
        <p:txBody>
          <a:bodyPr anchorCtr="0" anchor="ctr" bIns="0" lIns="0" spcFirstLastPara="1" rIns="0" wrap="square" tIns="0">
            <a:noAutofit/>
          </a:bodyPr>
          <a:lstStyle/>
          <a:p>
            <a:pPr indent="0" lvl="0" marL="0" rtl="0" algn="l">
              <a:spcBef>
                <a:spcPts val="0"/>
              </a:spcBef>
              <a:spcAft>
                <a:spcPts val="1200"/>
              </a:spcAft>
              <a:buNone/>
            </a:pPr>
            <a:r>
              <a:rPr lang="en"/>
              <a:t>#11: </a:t>
            </a:r>
            <a:r>
              <a:rPr lang="en"/>
              <a:t>Sustainable Cities and Communities</a:t>
            </a:r>
            <a:endParaRPr/>
          </a:p>
        </p:txBody>
      </p:sp>
      <p:sp>
        <p:nvSpPr>
          <p:cNvPr id="259" name="Google Shape;259;p34"/>
          <p:cNvSpPr txBox="1"/>
          <p:nvPr>
            <p:ph idx="5" type="subTitle"/>
          </p:nvPr>
        </p:nvSpPr>
        <p:spPr>
          <a:xfrm>
            <a:off x="4829025" y="2860513"/>
            <a:ext cx="3858900" cy="273900"/>
          </a:xfrm>
          <a:prstGeom prst="rect">
            <a:avLst/>
          </a:prstGeom>
          <a:noFill/>
        </p:spPr>
        <p:txBody>
          <a:bodyPr anchorCtr="0" anchor="ctr" bIns="0" lIns="0" spcFirstLastPara="1" rIns="0" wrap="square" tIns="0">
            <a:noAutofit/>
          </a:bodyPr>
          <a:lstStyle/>
          <a:p>
            <a:pPr indent="0" lvl="0" marL="0" rtl="0" algn="l">
              <a:spcBef>
                <a:spcPts val="0"/>
              </a:spcBef>
              <a:spcAft>
                <a:spcPts val="1200"/>
              </a:spcAft>
              <a:buNone/>
            </a:pPr>
            <a:r>
              <a:rPr lang="en"/>
              <a:t>#12: Responsible Consumption and Production</a:t>
            </a:r>
            <a:endParaRPr/>
          </a:p>
        </p:txBody>
      </p:sp>
      <p:sp>
        <p:nvSpPr>
          <p:cNvPr id="260" name="Google Shape;260;p34"/>
          <p:cNvSpPr txBox="1"/>
          <p:nvPr>
            <p:ph idx="3" type="subTitle"/>
          </p:nvPr>
        </p:nvSpPr>
        <p:spPr>
          <a:xfrm>
            <a:off x="454700" y="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a:t>Sustainable Societies: UN SDGs</a:t>
            </a:r>
            <a:endParaRPr/>
          </a:p>
        </p:txBody>
      </p:sp>
      <p:cxnSp>
        <p:nvCxnSpPr>
          <p:cNvPr id="261" name="Google Shape;261;p34"/>
          <p:cNvCxnSpPr/>
          <p:nvPr/>
        </p:nvCxnSpPr>
        <p:spPr>
          <a:xfrm flipH="1" rot="10800000">
            <a:off x="457200" y="906125"/>
            <a:ext cx="750900" cy="9900"/>
          </a:xfrm>
          <a:prstGeom prst="straightConnector1">
            <a:avLst/>
          </a:prstGeom>
          <a:noFill/>
          <a:ln cap="flat" cmpd="sng" w="19050">
            <a:solidFill>
              <a:srgbClr val="F1BC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5"/>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UN </a:t>
            </a:r>
            <a:r>
              <a:rPr lang="en"/>
              <a:t>SDGs</a:t>
            </a:r>
            <a:endParaRPr/>
          </a:p>
        </p:txBody>
      </p:sp>
      <p:sp>
        <p:nvSpPr>
          <p:cNvPr id="267" name="Google Shape;267;p3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8" name="Google Shape;268;p35"/>
          <p:cNvSpPr txBox="1"/>
          <p:nvPr>
            <p:ph idx="1" type="body"/>
          </p:nvPr>
        </p:nvSpPr>
        <p:spPr>
          <a:xfrm>
            <a:off x="457200" y="1645518"/>
            <a:ext cx="3854400" cy="12144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Take urgent action to combat climate change and its impacts.</a:t>
            </a:r>
            <a:endParaRPr/>
          </a:p>
        </p:txBody>
      </p:sp>
      <p:sp>
        <p:nvSpPr>
          <p:cNvPr id="269" name="Google Shape;269;p35"/>
          <p:cNvSpPr txBox="1"/>
          <p:nvPr>
            <p:ph idx="2" type="body"/>
          </p:nvPr>
        </p:nvSpPr>
        <p:spPr>
          <a:xfrm>
            <a:off x="4832400" y="1645922"/>
            <a:ext cx="3854400" cy="12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Conserve and sustainably use the oceans, seas and marine resources for sustainable development.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70" name="Google Shape;270;p35"/>
          <p:cNvSpPr txBox="1"/>
          <p:nvPr>
            <p:ph idx="4" type="subTitle"/>
          </p:nvPr>
        </p:nvSpPr>
        <p:spPr>
          <a:xfrm>
            <a:off x="457200" y="1228413"/>
            <a:ext cx="3858900" cy="273900"/>
          </a:xfrm>
          <a:prstGeom prst="rect">
            <a:avLst/>
          </a:prstGeom>
          <a:noFill/>
        </p:spPr>
        <p:txBody>
          <a:bodyPr anchorCtr="0" anchor="ctr" bIns="0" lIns="0" spcFirstLastPara="1" rIns="0" wrap="square" tIns="0">
            <a:noAutofit/>
          </a:bodyPr>
          <a:lstStyle/>
          <a:p>
            <a:pPr indent="0" lvl="0" marL="0" rtl="0" algn="l">
              <a:spcBef>
                <a:spcPts val="0"/>
              </a:spcBef>
              <a:spcAft>
                <a:spcPts val="1200"/>
              </a:spcAft>
              <a:buNone/>
            </a:pPr>
            <a:r>
              <a:rPr lang="en"/>
              <a:t>#13: Climate Action</a:t>
            </a:r>
            <a:endParaRPr/>
          </a:p>
        </p:txBody>
      </p:sp>
      <p:sp>
        <p:nvSpPr>
          <p:cNvPr id="271" name="Google Shape;271;p35"/>
          <p:cNvSpPr txBox="1"/>
          <p:nvPr>
            <p:ph idx="5" type="subTitle"/>
          </p:nvPr>
        </p:nvSpPr>
        <p:spPr>
          <a:xfrm>
            <a:off x="4830150" y="1228613"/>
            <a:ext cx="3858900" cy="273900"/>
          </a:xfrm>
          <a:prstGeom prst="rect">
            <a:avLst/>
          </a:prstGeom>
          <a:noFill/>
        </p:spPr>
        <p:txBody>
          <a:bodyPr anchorCtr="0" anchor="ctr" bIns="0" lIns="0" spcFirstLastPara="1" rIns="0" wrap="square" tIns="0">
            <a:noAutofit/>
          </a:bodyPr>
          <a:lstStyle/>
          <a:p>
            <a:pPr indent="0" lvl="0" marL="0" rtl="0" algn="l">
              <a:spcBef>
                <a:spcPts val="0"/>
              </a:spcBef>
              <a:spcAft>
                <a:spcPts val="1200"/>
              </a:spcAft>
              <a:buNone/>
            </a:pPr>
            <a:r>
              <a:rPr lang="en"/>
              <a:t>#14: Life Below Water </a:t>
            </a:r>
            <a:endParaRPr/>
          </a:p>
        </p:txBody>
      </p:sp>
      <p:sp>
        <p:nvSpPr>
          <p:cNvPr id="272" name="Google Shape;272;p35"/>
          <p:cNvSpPr txBox="1"/>
          <p:nvPr>
            <p:ph idx="1" type="body"/>
          </p:nvPr>
        </p:nvSpPr>
        <p:spPr>
          <a:xfrm>
            <a:off x="456075" y="3277418"/>
            <a:ext cx="3854400" cy="12144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Protect, restore and promote sustainable use of terrestrial ecosystems, sustainably manage forests, combat desertification, and halt and reverse land degradation and halt biodiversity loss.</a:t>
            </a:r>
            <a:endParaRPr/>
          </a:p>
        </p:txBody>
      </p:sp>
      <p:sp>
        <p:nvSpPr>
          <p:cNvPr id="273" name="Google Shape;273;p35"/>
          <p:cNvSpPr txBox="1"/>
          <p:nvPr>
            <p:ph idx="4" type="subTitle"/>
          </p:nvPr>
        </p:nvSpPr>
        <p:spPr>
          <a:xfrm>
            <a:off x="456075" y="2860313"/>
            <a:ext cx="3858900" cy="273900"/>
          </a:xfrm>
          <a:prstGeom prst="rect">
            <a:avLst/>
          </a:prstGeom>
          <a:noFill/>
        </p:spPr>
        <p:txBody>
          <a:bodyPr anchorCtr="0" anchor="ctr" bIns="0" lIns="0" spcFirstLastPara="1" rIns="0" wrap="square" tIns="0">
            <a:noAutofit/>
          </a:bodyPr>
          <a:lstStyle/>
          <a:p>
            <a:pPr indent="0" lvl="0" marL="0" rtl="0" algn="l">
              <a:spcBef>
                <a:spcPts val="0"/>
              </a:spcBef>
              <a:spcAft>
                <a:spcPts val="1200"/>
              </a:spcAft>
              <a:buNone/>
            </a:pPr>
            <a:r>
              <a:rPr lang="en"/>
              <a:t>#15: Life on Land</a:t>
            </a:r>
            <a:endParaRPr/>
          </a:p>
        </p:txBody>
      </p:sp>
      <p:sp>
        <p:nvSpPr>
          <p:cNvPr id="274" name="Google Shape;274;p35"/>
          <p:cNvSpPr txBox="1"/>
          <p:nvPr>
            <p:ph idx="3" type="subTitle"/>
          </p:nvPr>
        </p:nvSpPr>
        <p:spPr>
          <a:xfrm>
            <a:off x="454700" y="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a:t>Sustainable Societies: UN SDGs</a:t>
            </a:r>
            <a:endParaRPr/>
          </a:p>
        </p:txBody>
      </p:sp>
      <p:cxnSp>
        <p:nvCxnSpPr>
          <p:cNvPr id="275" name="Google Shape;275;p35"/>
          <p:cNvCxnSpPr/>
          <p:nvPr/>
        </p:nvCxnSpPr>
        <p:spPr>
          <a:xfrm flipH="1" rot="10800000">
            <a:off x="457200" y="906125"/>
            <a:ext cx="750900" cy="9900"/>
          </a:xfrm>
          <a:prstGeom prst="straightConnector1">
            <a:avLst/>
          </a:prstGeom>
          <a:noFill/>
          <a:ln cap="flat" cmpd="sng" w="19050">
            <a:solidFill>
              <a:srgbClr val="F1BC00"/>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ph type="title"/>
          </p:nvPr>
        </p:nvSpPr>
        <p:spPr>
          <a:xfrm>
            <a:off x="457200" y="1046175"/>
            <a:ext cx="7752300" cy="250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Subthemes</a:t>
            </a:r>
            <a:endParaRPr/>
          </a:p>
        </p:txBody>
      </p:sp>
      <p:sp>
        <p:nvSpPr>
          <p:cNvPr id="281" name="Google Shape;281;p3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7"/>
          <p:cNvSpPr txBox="1"/>
          <p:nvPr>
            <p:ph type="title"/>
          </p:nvPr>
        </p:nvSpPr>
        <p:spPr>
          <a:xfrm>
            <a:off x="457200" y="1862050"/>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Clean Energy</a:t>
            </a:r>
            <a:endParaRPr b="1">
              <a:latin typeface="Poppins"/>
              <a:ea typeface="Poppins"/>
              <a:cs typeface="Poppins"/>
              <a:sym typeface="Poppins"/>
            </a:endParaRPr>
          </a:p>
        </p:txBody>
      </p:sp>
      <p:sp>
        <p:nvSpPr>
          <p:cNvPr id="287" name="Google Shape;287;p37"/>
          <p:cNvSpPr txBox="1"/>
          <p:nvPr>
            <p:ph idx="1" type="body"/>
          </p:nvPr>
        </p:nvSpPr>
        <p:spPr>
          <a:xfrm>
            <a:off x="3667375" y="445025"/>
            <a:ext cx="5212200" cy="45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100"/>
              <a:t>“Replacing traditional sources of energy completely with renewable energy is going to be a challenging task. However, by adding renewable energy to the grid and gradually increasing its contribution, we can realistically expect a future that is powered completely by green energy.” – Tulsi Tanti, CEO of Suzlon group</a:t>
            </a:r>
            <a:endParaRPr i="1" sz="1100"/>
          </a:p>
          <a:p>
            <a:pPr indent="0" lvl="0" marL="0" rtl="0" algn="l">
              <a:spcBef>
                <a:spcPts val="1200"/>
              </a:spcBef>
              <a:spcAft>
                <a:spcPts val="0"/>
              </a:spcAft>
              <a:buNone/>
            </a:pPr>
            <a:r>
              <a:rPr b="1" lang="en" sz="1100"/>
              <a:t>Renewable Energy: </a:t>
            </a:r>
            <a:r>
              <a:rPr lang="en" sz="1100"/>
              <a:t>Energy derived from natural processes that are replenished at a rate that is equal to or faster than the rate at which they are consumed. (</a:t>
            </a:r>
            <a:r>
              <a:rPr lang="en" sz="1100" u="sng">
                <a:solidFill>
                  <a:schemeClr val="hlink"/>
                </a:solidFill>
                <a:hlinkClick r:id="rId3"/>
              </a:rPr>
              <a:t>Government of Canada</a:t>
            </a:r>
            <a:r>
              <a:rPr lang="en" sz="1100"/>
              <a:t>)</a:t>
            </a:r>
            <a:endParaRPr sz="1100"/>
          </a:p>
          <a:p>
            <a:pPr indent="0" lvl="0" marL="0" rtl="0" algn="l">
              <a:spcBef>
                <a:spcPts val="1200"/>
              </a:spcBef>
              <a:spcAft>
                <a:spcPts val="0"/>
              </a:spcAft>
              <a:buNone/>
            </a:pPr>
            <a:r>
              <a:rPr b="1" lang="en" sz="1100"/>
              <a:t>Did you know?</a:t>
            </a:r>
            <a:endParaRPr b="1" sz="1100"/>
          </a:p>
          <a:p>
            <a:pPr indent="0" lvl="0" marL="0" rtl="0" algn="l">
              <a:spcBef>
                <a:spcPts val="1200"/>
              </a:spcBef>
              <a:spcAft>
                <a:spcPts val="0"/>
              </a:spcAft>
              <a:buNone/>
            </a:pPr>
            <a:r>
              <a:rPr lang="en" sz="1100"/>
              <a:t>“Renewables are set to account for almost 95% of the increase in global power capacity through 2026, with solar PV alone providing more than half. The amount of renewable capacity added over the period of 2021 to 2026 is expected to be 50% higher than from 2015 to 2020.”(</a:t>
            </a:r>
            <a:r>
              <a:rPr lang="en" sz="1100" u="sng">
                <a:solidFill>
                  <a:schemeClr val="hlink"/>
                </a:solidFill>
                <a:hlinkClick r:id="rId4"/>
              </a:rPr>
              <a:t>IEA</a:t>
            </a:r>
            <a:r>
              <a:rPr lang="en" sz="1100"/>
              <a:t>)</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b="1" sz="1100">
              <a:solidFill>
                <a:srgbClr val="F1BC00"/>
              </a:solidFill>
            </a:endParaRPr>
          </a:p>
          <a:p>
            <a:pPr indent="-298450" lvl="0" marL="457200" rtl="0" algn="l">
              <a:spcBef>
                <a:spcPts val="600"/>
              </a:spcBef>
              <a:spcAft>
                <a:spcPts val="0"/>
              </a:spcAft>
              <a:buSzPts val="1100"/>
              <a:buChar char="●"/>
            </a:pPr>
            <a:r>
              <a:rPr lang="en" sz="1100" u="sng">
                <a:solidFill>
                  <a:schemeClr val="hlink"/>
                </a:solidFill>
                <a:hlinkClick r:id="rId5"/>
              </a:rPr>
              <a:t>India ramping up renewable energy development</a:t>
            </a:r>
            <a:endParaRPr sz="1100"/>
          </a:p>
          <a:p>
            <a:pPr indent="-298450" lvl="0" marL="457200" rtl="0" algn="l">
              <a:spcBef>
                <a:spcPts val="0"/>
              </a:spcBef>
              <a:spcAft>
                <a:spcPts val="0"/>
              </a:spcAft>
              <a:buSzPts val="1100"/>
              <a:buChar char="●"/>
            </a:pPr>
            <a:r>
              <a:rPr lang="en" sz="1100" u="sng">
                <a:solidFill>
                  <a:schemeClr val="hlink"/>
                </a:solidFill>
                <a:hlinkClick r:id="rId6"/>
              </a:rPr>
              <a:t>The Globe and Mail – Clean Energy with Nuclear Power</a:t>
            </a:r>
            <a:endParaRPr sz="1100"/>
          </a:p>
          <a:p>
            <a:pPr indent="0" lvl="0" marL="0" rtl="0" algn="l">
              <a:spcBef>
                <a:spcPts val="1200"/>
              </a:spcBef>
              <a:spcAft>
                <a:spcPts val="1200"/>
              </a:spcAft>
              <a:buNone/>
            </a:pPr>
            <a:r>
              <a:t/>
            </a:r>
            <a:endParaRPr sz="1100"/>
          </a:p>
        </p:txBody>
      </p:sp>
      <p:sp>
        <p:nvSpPr>
          <p:cNvPr id="288" name="Google Shape;288;p37"/>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9" name="Google Shape;289;p37"/>
          <p:cNvSpPr txBox="1"/>
          <p:nvPr>
            <p:ph idx="4294967295" type="subTitle"/>
          </p:nvPr>
        </p:nvSpPr>
        <p:spPr>
          <a:xfrm>
            <a:off x="3662100"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Sustainable Infrastructure: Clean Energy</a:t>
            </a:r>
            <a:endParaRPr sz="1200">
              <a:solidFill>
                <a:schemeClr val="l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txBox="1"/>
          <p:nvPr>
            <p:ph type="title"/>
          </p:nvPr>
        </p:nvSpPr>
        <p:spPr>
          <a:xfrm>
            <a:off x="457200" y="1691300"/>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Ecosystem Conservation</a:t>
            </a:r>
            <a:endParaRPr b="1">
              <a:latin typeface="Poppins"/>
              <a:ea typeface="Poppins"/>
              <a:cs typeface="Poppins"/>
              <a:sym typeface="Poppins"/>
            </a:endParaRPr>
          </a:p>
        </p:txBody>
      </p:sp>
      <p:sp>
        <p:nvSpPr>
          <p:cNvPr id="295" name="Google Shape;295;p38"/>
          <p:cNvSpPr txBox="1"/>
          <p:nvPr>
            <p:ph idx="1" type="body"/>
          </p:nvPr>
        </p:nvSpPr>
        <p:spPr>
          <a:xfrm>
            <a:off x="3678875" y="445025"/>
            <a:ext cx="4847100" cy="411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100"/>
              <a:t>“Look closely at nature. Every species is a masterpiece, exquisitely adapted to the particular environment in which it has survived. Who are to destroy or even diminish biodiversity?.” - E.O Wilson </a:t>
            </a:r>
            <a:endParaRPr sz="1100"/>
          </a:p>
          <a:p>
            <a:pPr indent="0" lvl="0" marL="0" rtl="0" algn="l">
              <a:spcBef>
                <a:spcPts val="1200"/>
              </a:spcBef>
              <a:spcAft>
                <a:spcPts val="0"/>
              </a:spcAft>
              <a:buNone/>
            </a:pPr>
            <a:r>
              <a:rPr b="1" lang="en" sz="1100"/>
              <a:t>Ecosystem Conservation</a:t>
            </a:r>
            <a:r>
              <a:rPr lang="en" sz="1100"/>
              <a:t>: The protection of plants and animals, natural areas, and interesting and important structures and buildings, especially from the damaging effects of human activity. (Cambridge Dictionary)</a:t>
            </a:r>
            <a:endParaRPr sz="1100"/>
          </a:p>
          <a:p>
            <a:pPr indent="0" lvl="0" marL="0" rtl="0" algn="l">
              <a:spcBef>
                <a:spcPts val="1200"/>
              </a:spcBef>
              <a:spcAft>
                <a:spcPts val="0"/>
              </a:spcAft>
              <a:buNone/>
            </a:pPr>
            <a:r>
              <a:rPr b="1" lang="en" sz="1100"/>
              <a:t>Did you know?</a:t>
            </a:r>
            <a:endParaRPr b="1" sz="1100"/>
          </a:p>
          <a:p>
            <a:pPr indent="0" lvl="0" marL="0" rtl="0" algn="l">
              <a:spcBef>
                <a:spcPts val="1200"/>
              </a:spcBef>
              <a:spcAft>
                <a:spcPts val="0"/>
              </a:spcAft>
              <a:buNone/>
            </a:pPr>
            <a:r>
              <a:rPr lang="en" sz="1100"/>
              <a:t>There has been a 68% decline in populations of mammals, birds, fish, reptiles and amphibians globally since 1970 (</a:t>
            </a:r>
            <a:r>
              <a:rPr lang="en" sz="1100" u="sng">
                <a:solidFill>
                  <a:schemeClr val="hlink"/>
                </a:solidFill>
                <a:hlinkClick r:id="rId3"/>
              </a:rPr>
              <a:t>WWF - Living Planet Report 2020</a:t>
            </a:r>
            <a:r>
              <a:rPr lang="en" sz="1100"/>
              <a:t>).</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sz="1100">
              <a:solidFill>
                <a:srgbClr val="F1BC00"/>
              </a:solidFill>
            </a:endParaRPr>
          </a:p>
          <a:p>
            <a:pPr indent="-298450" lvl="0" marL="457200" rtl="0" algn="l">
              <a:spcBef>
                <a:spcPts val="600"/>
              </a:spcBef>
              <a:spcAft>
                <a:spcPts val="0"/>
              </a:spcAft>
              <a:buSzPts val="1100"/>
              <a:buChar char="●"/>
            </a:pPr>
            <a:r>
              <a:rPr lang="en" sz="1100" u="sng">
                <a:solidFill>
                  <a:schemeClr val="hlink"/>
                </a:solidFill>
                <a:hlinkClick r:id="rId4"/>
              </a:rPr>
              <a:t>McKi</a:t>
            </a:r>
            <a:r>
              <a:rPr lang="en" sz="1100" u="sng">
                <a:solidFill>
                  <a:schemeClr val="hlink"/>
                </a:solidFill>
                <a:hlinkClick r:id="rId5"/>
              </a:rPr>
              <a:t>n</a:t>
            </a:r>
            <a:r>
              <a:rPr lang="en" sz="1100" u="sng">
                <a:solidFill>
                  <a:schemeClr val="hlink"/>
                </a:solidFill>
                <a:hlinkClick r:id="rId6"/>
              </a:rPr>
              <a:t>sey - Valuing nature conservation</a:t>
            </a:r>
            <a:endParaRPr sz="1100"/>
          </a:p>
        </p:txBody>
      </p:sp>
      <p:sp>
        <p:nvSpPr>
          <p:cNvPr id="296" name="Google Shape;296;p38"/>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38"/>
          <p:cNvSpPr txBox="1"/>
          <p:nvPr>
            <p:ph idx="4294967295" type="subTitle"/>
          </p:nvPr>
        </p:nvSpPr>
        <p:spPr>
          <a:xfrm>
            <a:off x="3662100"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Sustainable Infrastructure: Ecosystem Conservation</a:t>
            </a:r>
            <a:endParaRPr sz="1200">
              <a:solidFill>
                <a:schemeClr val="l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9"/>
          <p:cNvSpPr txBox="1"/>
          <p:nvPr>
            <p:ph idx="1" type="body"/>
          </p:nvPr>
        </p:nvSpPr>
        <p:spPr>
          <a:xfrm>
            <a:off x="3656475" y="1125425"/>
            <a:ext cx="5030400" cy="3156600"/>
          </a:xfrm>
          <a:prstGeom prst="rect">
            <a:avLst/>
          </a:prstGeom>
          <a:noFill/>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100"/>
              <a:t>Urban Resilience: </a:t>
            </a:r>
            <a:r>
              <a:rPr i="1" lang="en" sz="1100"/>
              <a:t>“</a:t>
            </a:r>
            <a:r>
              <a:rPr lang="en" sz="1100"/>
              <a:t>Resilience is defined as “the capacity to recover quickly from difficulties.” In the context of climate change, resilience is the ability of a system or community to rebound following a shock such as a natural disaster. Building resilience requires not only recognizing potential hazards like extreme weather events, but also understanding the underlying vulnerabilities that may affect recovery from them.” (</a:t>
            </a:r>
            <a:r>
              <a:rPr lang="en" sz="1100" u="sng">
                <a:solidFill>
                  <a:schemeClr val="accent5"/>
                </a:solidFill>
                <a:hlinkClick r:id="rId3">
                  <a:extLst>
                    <a:ext uri="{A12FA001-AC4F-418D-AE19-62706E023703}">
                      <ahyp:hlinkClr val="tx"/>
                    </a:ext>
                  </a:extLst>
                </a:hlinkClick>
              </a:rPr>
              <a:t>Business for Social Responsibility (BSR)</a:t>
            </a:r>
            <a:r>
              <a:rPr lang="en" sz="1100"/>
              <a:t>)</a:t>
            </a:r>
            <a:endParaRPr sz="1100"/>
          </a:p>
          <a:p>
            <a:pPr indent="0" lvl="0" marL="0" rtl="0" algn="l">
              <a:spcBef>
                <a:spcPts val="4600"/>
              </a:spcBef>
              <a:spcAft>
                <a:spcPts val="0"/>
              </a:spcAft>
              <a:buNone/>
            </a:pPr>
            <a:r>
              <a:rPr lang="en" sz="1100"/>
              <a:t>There has been a 68% decline in populations of mammals, birds, fish, reptiles and amphibians globally since 1970 (</a:t>
            </a:r>
            <a:r>
              <a:rPr lang="en" sz="1100" u="sng">
                <a:solidFill>
                  <a:schemeClr val="hlink"/>
                </a:solidFill>
                <a:hlinkClick r:id="rId4"/>
              </a:rPr>
              <a:t>WWF - Living Planet Report 2020</a:t>
            </a:r>
            <a:r>
              <a:rPr lang="en" sz="1100"/>
              <a:t>).</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sz="1100">
              <a:solidFill>
                <a:srgbClr val="F1BC00"/>
              </a:solidFill>
            </a:endParaRPr>
          </a:p>
          <a:p>
            <a:pPr indent="-298450" lvl="0" marL="457200" rtl="0" algn="l">
              <a:spcBef>
                <a:spcPts val="600"/>
              </a:spcBef>
              <a:spcAft>
                <a:spcPts val="0"/>
              </a:spcAft>
              <a:buSzPts val="1100"/>
              <a:buChar char="●"/>
            </a:pPr>
            <a:r>
              <a:rPr lang="en" sz="1100" u="sng">
                <a:solidFill>
                  <a:schemeClr val="hlink"/>
                </a:solidFill>
                <a:hlinkClick r:id="rId5"/>
              </a:rPr>
              <a:t>The urgency of Transforming Biodiversity Governance </a:t>
            </a:r>
            <a:endParaRPr sz="1100"/>
          </a:p>
        </p:txBody>
      </p:sp>
      <p:sp>
        <p:nvSpPr>
          <p:cNvPr id="303" name="Google Shape;303;p39"/>
          <p:cNvSpPr txBox="1"/>
          <p:nvPr>
            <p:ph type="title"/>
          </p:nvPr>
        </p:nvSpPr>
        <p:spPr>
          <a:xfrm>
            <a:off x="457200" y="1888825"/>
            <a:ext cx="28695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Urban Resilience</a:t>
            </a:r>
            <a:endParaRPr b="1">
              <a:latin typeface="Poppins"/>
              <a:ea typeface="Poppins"/>
              <a:cs typeface="Poppins"/>
              <a:sym typeface="Poppins"/>
            </a:endParaRPr>
          </a:p>
        </p:txBody>
      </p:sp>
      <p:sp>
        <p:nvSpPr>
          <p:cNvPr id="304" name="Google Shape;304;p39"/>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39"/>
          <p:cNvSpPr txBox="1"/>
          <p:nvPr/>
        </p:nvSpPr>
        <p:spPr>
          <a:xfrm>
            <a:off x="3584387" y="445025"/>
            <a:ext cx="51525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4600"/>
              </a:spcAft>
              <a:buNone/>
            </a:pPr>
            <a:r>
              <a:rPr i="1" lang="en" sz="1100">
                <a:solidFill>
                  <a:schemeClr val="dk2"/>
                </a:solidFill>
                <a:latin typeface="Poppins"/>
                <a:ea typeface="Poppins"/>
                <a:cs typeface="Poppins"/>
                <a:sym typeface="Poppins"/>
              </a:rPr>
              <a:t>“Resilience is overcoming adversity, whilst also potentially changing, or even dramatically transforming, (aspects of) that adversity.” Angie Hart, University of Brighton</a:t>
            </a:r>
            <a:r>
              <a:rPr lang="en" sz="1100">
                <a:solidFill>
                  <a:schemeClr val="dk1"/>
                </a:solidFill>
                <a:highlight>
                  <a:srgbClr val="FFFFFF"/>
                </a:highlight>
                <a:latin typeface="Poppins"/>
                <a:ea typeface="Poppins"/>
                <a:cs typeface="Poppins"/>
                <a:sym typeface="Poppins"/>
              </a:rPr>
              <a:t> </a:t>
            </a:r>
            <a:endParaRPr sz="1100">
              <a:latin typeface="Poppins"/>
              <a:ea typeface="Poppins"/>
              <a:cs typeface="Poppins"/>
              <a:sym typeface="Poppins"/>
            </a:endParaRPr>
          </a:p>
        </p:txBody>
      </p:sp>
      <p:sp>
        <p:nvSpPr>
          <p:cNvPr id="306" name="Google Shape;306;p39"/>
          <p:cNvSpPr txBox="1"/>
          <p:nvPr/>
        </p:nvSpPr>
        <p:spPr>
          <a:xfrm>
            <a:off x="3551263" y="2526725"/>
            <a:ext cx="1616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2"/>
                </a:solidFill>
                <a:latin typeface="Poppins"/>
                <a:ea typeface="Poppins"/>
                <a:cs typeface="Poppins"/>
                <a:sym typeface="Poppins"/>
              </a:rPr>
              <a:t>Did You Know?</a:t>
            </a:r>
            <a:endParaRPr b="1" sz="1100">
              <a:latin typeface="Poppins"/>
              <a:ea typeface="Poppins"/>
              <a:cs typeface="Poppins"/>
              <a:sym typeface="Poppins"/>
            </a:endParaRPr>
          </a:p>
        </p:txBody>
      </p:sp>
      <p:sp>
        <p:nvSpPr>
          <p:cNvPr id="307" name="Google Shape;307;p39"/>
          <p:cNvSpPr txBox="1"/>
          <p:nvPr>
            <p:ph idx="4294967295" type="subTitle"/>
          </p:nvPr>
        </p:nvSpPr>
        <p:spPr>
          <a:xfrm>
            <a:off x="3662100"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Sustainable Infrastructure: Urban Resilience</a:t>
            </a:r>
            <a:endParaRPr sz="1200">
              <a:solidFill>
                <a:schemeClr val="lt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0"/>
          <p:cNvSpPr txBox="1"/>
          <p:nvPr>
            <p:ph type="title"/>
          </p:nvPr>
        </p:nvSpPr>
        <p:spPr>
          <a:xfrm>
            <a:off x="457200" y="2035450"/>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Smart Cities</a:t>
            </a:r>
            <a:endParaRPr b="1">
              <a:latin typeface="Poppins"/>
              <a:ea typeface="Poppins"/>
              <a:cs typeface="Poppins"/>
              <a:sym typeface="Poppins"/>
            </a:endParaRPr>
          </a:p>
          <a:p>
            <a:pPr indent="0" lvl="0" marL="0" rtl="0" algn="l">
              <a:spcBef>
                <a:spcPts val="0"/>
              </a:spcBef>
              <a:spcAft>
                <a:spcPts val="0"/>
              </a:spcAft>
              <a:buNone/>
            </a:pPr>
            <a:r>
              <a:t/>
            </a:r>
            <a:endParaRPr b="1">
              <a:latin typeface="Poppins"/>
              <a:ea typeface="Poppins"/>
              <a:cs typeface="Poppins"/>
              <a:sym typeface="Poppins"/>
            </a:endParaRPr>
          </a:p>
        </p:txBody>
      </p:sp>
      <p:sp>
        <p:nvSpPr>
          <p:cNvPr id="313" name="Google Shape;313;p40"/>
          <p:cNvSpPr txBox="1"/>
          <p:nvPr>
            <p:ph idx="1" type="body"/>
          </p:nvPr>
        </p:nvSpPr>
        <p:spPr>
          <a:xfrm>
            <a:off x="3666400" y="437200"/>
            <a:ext cx="5238300" cy="467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100"/>
              <a:t>“The drive to make cities 'smarter' is all about harnessing data and digital technology to meet the challenge of doing more with less” - Stephen Benjamin, Former U.S. Conference of Mayors (USCM) President</a:t>
            </a:r>
            <a:endParaRPr sz="1100"/>
          </a:p>
          <a:p>
            <a:pPr indent="0" lvl="0" marL="0" rtl="0" algn="l">
              <a:spcBef>
                <a:spcPts val="1200"/>
              </a:spcBef>
              <a:spcAft>
                <a:spcPts val="0"/>
              </a:spcAft>
              <a:buNone/>
            </a:pPr>
            <a:r>
              <a:rPr b="1" lang="en" sz="1100"/>
              <a:t>Smart Cities: </a:t>
            </a:r>
            <a:r>
              <a:rPr lang="en" sz="1100"/>
              <a:t>Smart cities put data and digital technology to work to make better decisions and improve the quality of life. They consistent of three layers: 1) Technology Base (smartphones and sensors) 2) Application/Developer Layer (translating raw data into useful information ) 3) Usage Layer (how cities, companies, and the public benefit) (</a:t>
            </a:r>
            <a:r>
              <a:rPr lang="en" sz="1100" u="sng">
                <a:solidFill>
                  <a:schemeClr val="hlink"/>
                </a:solidFill>
                <a:hlinkClick r:id="rId3"/>
              </a:rPr>
              <a:t>McKinsey on Smart Cities</a:t>
            </a:r>
            <a:r>
              <a:rPr lang="en" sz="1100"/>
              <a:t>)</a:t>
            </a:r>
            <a:endParaRPr sz="1100"/>
          </a:p>
          <a:p>
            <a:pPr indent="0" lvl="0" marL="0" rtl="0" algn="l">
              <a:spcBef>
                <a:spcPts val="1200"/>
              </a:spcBef>
              <a:spcAft>
                <a:spcPts val="0"/>
              </a:spcAft>
              <a:buNone/>
            </a:pPr>
            <a:r>
              <a:rPr b="1" lang="en" sz="1100"/>
              <a:t>Did you know?</a:t>
            </a:r>
            <a:endParaRPr b="1" sz="1100"/>
          </a:p>
          <a:p>
            <a:pPr indent="0" lvl="0" marL="0" rtl="0" algn="l">
              <a:spcBef>
                <a:spcPts val="1200"/>
              </a:spcBef>
              <a:spcAft>
                <a:spcPts val="0"/>
              </a:spcAft>
              <a:buNone/>
            </a:pPr>
            <a:r>
              <a:rPr lang="en" sz="1100"/>
              <a:t>Smart Cities have the potential to generate $20 trillion in economic benefits by 2026 and could reduce urban emissions by 30% by 2050 (</a:t>
            </a:r>
            <a:r>
              <a:rPr lang="en" sz="1100" u="sng">
                <a:solidFill>
                  <a:schemeClr val="hlink"/>
                </a:solidFill>
                <a:hlinkClick r:id="rId4"/>
              </a:rPr>
              <a:t>Barclays</a:t>
            </a:r>
            <a:r>
              <a:rPr lang="en" sz="1100"/>
              <a:t>) </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b="1" sz="1100">
              <a:solidFill>
                <a:srgbClr val="F1BC00"/>
              </a:solidFill>
            </a:endParaRPr>
          </a:p>
          <a:p>
            <a:pPr indent="-298450" lvl="0" marL="457200" rtl="0" algn="l">
              <a:spcBef>
                <a:spcPts val="600"/>
              </a:spcBef>
              <a:spcAft>
                <a:spcPts val="0"/>
              </a:spcAft>
              <a:buSzPts val="1100"/>
              <a:buChar char="●"/>
            </a:pPr>
            <a:r>
              <a:rPr lang="en" sz="1100" u="sng">
                <a:solidFill>
                  <a:schemeClr val="hlink"/>
                </a:solidFill>
                <a:hlinkClick r:id="rId5"/>
              </a:rPr>
              <a:t>Singapore - the World’s Smartest City (Thales Group)</a:t>
            </a:r>
            <a:endParaRPr sz="1100"/>
          </a:p>
          <a:p>
            <a:pPr indent="-298450" lvl="0" marL="457200" rtl="0" algn="l">
              <a:spcBef>
                <a:spcPts val="0"/>
              </a:spcBef>
              <a:spcAft>
                <a:spcPts val="0"/>
              </a:spcAft>
              <a:buSzPts val="1100"/>
              <a:buChar char="●"/>
            </a:pPr>
            <a:r>
              <a:rPr lang="en" sz="1100" u="sng">
                <a:solidFill>
                  <a:schemeClr val="hlink"/>
                </a:solidFill>
                <a:hlinkClick r:id="rId6"/>
              </a:rPr>
              <a:t>School of Cities on Smart Cities</a:t>
            </a:r>
            <a:endParaRPr sz="1100"/>
          </a:p>
          <a:p>
            <a:pPr indent="0" lvl="0" marL="0" rtl="0" algn="l">
              <a:spcBef>
                <a:spcPts val="1200"/>
              </a:spcBef>
              <a:spcAft>
                <a:spcPts val="0"/>
              </a:spcAft>
              <a:buNone/>
            </a:pPr>
            <a:r>
              <a:t/>
            </a:r>
            <a:endParaRPr sz="1100"/>
          </a:p>
          <a:p>
            <a:pPr indent="0" lvl="0" marL="0" rtl="0" algn="l">
              <a:spcBef>
                <a:spcPts val="1200"/>
              </a:spcBef>
              <a:spcAft>
                <a:spcPts val="1200"/>
              </a:spcAft>
              <a:buNone/>
            </a:pPr>
            <a:r>
              <a:t/>
            </a:r>
            <a:endParaRPr sz="1100"/>
          </a:p>
        </p:txBody>
      </p:sp>
      <p:sp>
        <p:nvSpPr>
          <p:cNvPr id="314" name="Google Shape;314;p40"/>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5" name="Google Shape;315;p40"/>
          <p:cNvSpPr txBox="1"/>
          <p:nvPr>
            <p:ph idx="4294967295" type="subTitle"/>
          </p:nvPr>
        </p:nvSpPr>
        <p:spPr>
          <a:xfrm>
            <a:off x="3666400"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Sustainable Infrastructure: Smart Cities</a:t>
            </a:r>
            <a:endParaRPr sz="1200">
              <a:solidFill>
                <a:schemeClr val="lt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1"/>
          <p:cNvSpPr txBox="1"/>
          <p:nvPr>
            <p:ph type="title"/>
          </p:nvPr>
        </p:nvSpPr>
        <p:spPr>
          <a:xfrm>
            <a:off x="457200" y="1730825"/>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Transportation &amp; Infrastructure</a:t>
            </a:r>
            <a:endParaRPr b="1">
              <a:latin typeface="Poppins"/>
              <a:ea typeface="Poppins"/>
              <a:cs typeface="Poppins"/>
              <a:sym typeface="Poppins"/>
            </a:endParaRPr>
          </a:p>
        </p:txBody>
      </p:sp>
      <p:sp>
        <p:nvSpPr>
          <p:cNvPr id="321" name="Google Shape;321;p41"/>
          <p:cNvSpPr txBox="1"/>
          <p:nvPr>
            <p:ph idx="1" type="body"/>
          </p:nvPr>
        </p:nvSpPr>
        <p:spPr>
          <a:xfrm>
            <a:off x="3650975" y="474750"/>
            <a:ext cx="4790100" cy="4194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100"/>
              <a:t>“Transportation is the center of the world! It is the glue of our daily lives. When it goes well, we don’t see it. When it goes wrong, it negatively colors our day, makes us feel angry and impotent, curtails our responsibilities.” - Robin Chase</a:t>
            </a:r>
            <a:endParaRPr sz="1100"/>
          </a:p>
          <a:p>
            <a:pPr indent="0" lvl="0" marL="0" rtl="0" algn="l">
              <a:spcBef>
                <a:spcPts val="1200"/>
              </a:spcBef>
              <a:spcAft>
                <a:spcPts val="0"/>
              </a:spcAft>
              <a:buNone/>
            </a:pPr>
            <a:r>
              <a:rPr b="1" lang="en" sz="1100"/>
              <a:t>Transportation</a:t>
            </a:r>
            <a:r>
              <a:rPr lang="en" sz="1100"/>
              <a:t>: A system for carrying people or goods from one place to another using vehicles, roads, etc. (Oxford Dictionary)</a:t>
            </a:r>
            <a:endParaRPr sz="1100"/>
          </a:p>
          <a:p>
            <a:pPr indent="0" lvl="0" marL="0" rtl="0" algn="l">
              <a:spcBef>
                <a:spcPts val="1200"/>
              </a:spcBef>
              <a:spcAft>
                <a:spcPts val="0"/>
              </a:spcAft>
              <a:buNone/>
            </a:pPr>
            <a:r>
              <a:rPr b="1" lang="en" sz="1100"/>
              <a:t>Did you know?</a:t>
            </a:r>
            <a:endParaRPr b="1" sz="1100"/>
          </a:p>
          <a:p>
            <a:pPr indent="0" lvl="0" marL="0" rtl="0" algn="l">
              <a:spcBef>
                <a:spcPts val="1200"/>
              </a:spcBef>
              <a:spcAft>
                <a:spcPts val="0"/>
              </a:spcAft>
              <a:buNone/>
            </a:pPr>
            <a:r>
              <a:rPr lang="en" sz="1100"/>
              <a:t>Transportation is the fastest growing sector of emissions worldwide and accounts for 17% of GHG. Globally, transportation accounted for 7.29 billion tons of carbon dioxide emissions in 2020 (</a:t>
            </a:r>
            <a:r>
              <a:rPr lang="en" sz="1100" u="sng">
                <a:solidFill>
                  <a:schemeClr val="hlink"/>
                </a:solidFill>
                <a:hlinkClick r:id="rId3"/>
              </a:rPr>
              <a:t>Statista</a:t>
            </a:r>
            <a:r>
              <a:rPr lang="en" sz="1100"/>
              <a:t>).</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b="1" sz="1100">
              <a:solidFill>
                <a:srgbClr val="F1BC00"/>
              </a:solidFill>
            </a:endParaRPr>
          </a:p>
          <a:p>
            <a:pPr indent="-298450" lvl="0" marL="457200" rtl="0" algn="l">
              <a:spcBef>
                <a:spcPts val="600"/>
              </a:spcBef>
              <a:spcAft>
                <a:spcPts val="0"/>
              </a:spcAft>
              <a:buSzPts val="1100"/>
              <a:buChar char="●"/>
            </a:pPr>
            <a:r>
              <a:rPr lang="en" sz="1100" u="sng">
                <a:solidFill>
                  <a:schemeClr val="hlink"/>
                </a:solidFill>
                <a:hlinkClick r:id="rId4"/>
              </a:rPr>
              <a:t>McKinsey - Building a transport system that works</a:t>
            </a:r>
            <a:endParaRPr sz="1100"/>
          </a:p>
        </p:txBody>
      </p:sp>
      <p:sp>
        <p:nvSpPr>
          <p:cNvPr id="322" name="Google Shape;322;p41"/>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41"/>
          <p:cNvSpPr txBox="1"/>
          <p:nvPr>
            <p:ph idx="4294967295" type="subTitle"/>
          </p:nvPr>
        </p:nvSpPr>
        <p:spPr>
          <a:xfrm>
            <a:off x="3662100"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Sustainable Infrastructure: Transportation &amp; Infrastructure</a:t>
            </a:r>
            <a:endParaRPr sz="1200">
              <a:solidFill>
                <a:schemeClr val="lt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2"/>
          <p:cNvSpPr txBox="1"/>
          <p:nvPr>
            <p:ph type="title"/>
          </p:nvPr>
        </p:nvSpPr>
        <p:spPr>
          <a:xfrm>
            <a:off x="457200" y="1748675"/>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Sustainable Consumption</a:t>
            </a:r>
            <a:endParaRPr b="1">
              <a:latin typeface="Poppins"/>
              <a:ea typeface="Poppins"/>
              <a:cs typeface="Poppins"/>
              <a:sym typeface="Poppins"/>
            </a:endParaRPr>
          </a:p>
        </p:txBody>
      </p:sp>
      <p:sp>
        <p:nvSpPr>
          <p:cNvPr id="329" name="Google Shape;329;p42"/>
          <p:cNvSpPr txBox="1"/>
          <p:nvPr>
            <p:ph idx="1" type="body"/>
          </p:nvPr>
        </p:nvSpPr>
        <p:spPr>
          <a:xfrm>
            <a:off x="3662475" y="445025"/>
            <a:ext cx="5205900" cy="440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100"/>
              <a:t>“If it can’t be reduce, reused, repaired, rebuilt, refurbished, refinished, resold, recycled, or composted, then it should be restricted, designed or removed from production.” – Pete Seeger, Folk Singer &amp; Social Activist</a:t>
            </a:r>
            <a:endParaRPr sz="1100"/>
          </a:p>
          <a:p>
            <a:pPr indent="0" lvl="0" marL="0" rtl="0" algn="l">
              <a:spcBef>
                <a:spcPts val="1200"/>
              </a:spcBef>
              <a:spcAft>
                <a:spcPts val="0"/>
              </a:spcAft>
              <a:buNone/>
            </a:pPr>
            <a:r>
              <a:rPr b="1" lang="en" sz="1100"/>
              <a:t>Sustainable Consumption: </a:t>
            </a:r>
            <a:r>
              <a:rPr lang="en" sz="1100"/>
              <a:t>It is about doing more and better with less. It is also about decoupling economic growth from environmental degradation, increasing resource efficiency and promoting </a:t>
            </a:r>
            <a:r>
              <a:rPr i="1" lang="en" sz="1100"/>
              <a:t>sustainable</a:t>
            </a:r>
            <a:r>
              <a:rPr lang="en" sz="1100"/>
              <a:t> lifestyles. (</a:t>
            </a:r>
            <a:r>
              <a:rPr lang="en" sz="1100" u="sng">
                <a:solidFill>
                  <a:schemeClr val="hlink"/>
                </a:solidFill>
                <a:hlinkClick r:id="rId3"/>
              </a:rPr>
              <a:t>United Nations</a:t>
            </a:r>
            <a:r>
              <a:rPr lang="en" sz="1100"/>
              <a:t>)</a:t>
            </a:r>
            <a:endParaRPr sz="1100"/>
          </a:p>
          <a:p>
            <a:pPr indent="0" lvl="0" marL="0" rtl="0" algn="l">
              <a:spcBef>
                <a:spcPts val="1200"/>
              </a:spcBef>
              <a:spcAft>
                <a:spcPts val="0"/>
              </a:spcAft>
              <a:buNone/>
            </a:pPr>
            <a:r>
              <a:rPr b="1" lang="en" sz="1100"/>
              <a:t>Did you know?</a:t>
            </a:r>
            <a:endParaRPr b="1" sz="1100"/>
          </a:p>
          <a:p>
            <a:pPr indent="0" lvl="0" marL="0" rtl="0" algn="l">
              <a:spcBef>
                <a:spcPts val="1200"/>
              </a:spcBef>
              <a:spcAft>
                <a:spcPts val="0"/>
              </a:spcAft>
              <a:buNone/>
            </a:pPr>
            <a:r>
              <a:rPr lang="en" sz="1100"/>
              <a:t>As of 2016, about 14% of food produced globally was lost before reaching the retailing sector. Estimates vary across regions, from 20.7% in Central and Southern Asia to 5.8% in Australia and New Zealand. (</a:t>
            </a:r>
            <a:r>
              <a:rPr lang="en" sz="1100" u="sng">
                <a:solidFill>
                  <a:schemeClr val="hlink"/>
                </a:solidFill>
                <a:hlinkClick r:id="rId4"/>
              </a:rPr>
              <a:t>United Nations</a:t>
            </a:r>
            <a:r>
              <a:rPr lang="en" sz="1100"/>
              <a:t>)</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b="1" sz="1100">
              <a:solidFill>
                <a:srgbClr val="F1BC00"/>
              </a:solidFill>
            </a:endParaRPr>
          </a:p>
          <a:p>
            <a:pPr indent="-298450" lvl="0" marL="457200" rtl="0" algn="l">
              <a:spcBef>
                <a:spcPts val="600"/>
              </a:spcBef>
              <a:spcAft>
                <a:spcPts val="0"/>
              </a:spcAft>
              <a:buSzPts val="1100"/>
              <a:buChar char="●"/>
            </a:pPr>
            <a:r>
              <a:rPr lang="en" sz="1100" u="sng">
                <a:solidFill>
                  <a:schemeClr val="hlink"/>
                </a:solidFill>
                <a:hlinkClick r:id="rId5"/>
              </a:rPr>
              <a:t>Blue Chip Foundation</a:t>
            </a:r>
            <a:endParaRPr sz="1100"/>
          </a:p>
          <a:p>
            <a:pPr indent="-298450" lvl="0" marL="457200" rtl="0" algn="l">
              <a:spcBef>
                <a:spcPts val="0"/>
              </a:spcBef>
              <a:spcAft>
                <a:spcPts val="0"/>
              </a:spcAft>
              <a:buSzPts val="1100"/>
              <a:buChar char="●"/>
            </a:pPr>
            <a:r>
              <a:rPr lang="en" sz="1100" u="sng">
                <a:solidFill>
                  <a:schemeClr val="hlink"/>
                </a:solidFill>
                <a:hlinkClick r:id="rId6"/>
              </a:rPr>
              <a:t>Samsung, LG, Lotte &amp; Dongwon – Eco-friendly materials</a:t>
            </a:r>
            <a:endParaRPr sz="1100"/>
          </a:p>
        </p:txBody>
      </p:sp>
      <p:sp>
        <p:nvSpPr>
          <p:cNvPr id="330" name="Google Shape;330;p42"/>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42"/>
          <p:cNvSpPr txBox="1"/>
          <p:nvPr>
            <p:ph idx="4294967295" type="subTitle"/>
          </p:nvPr>
        </p:nvSpPr>
        <p:spPr>
          <a:xfrm>
            <a:off x="3662100"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Sustainable Infrastructure: Sustainable Consumption</a:t>
            </a:r>
            <a:endParaRPr sz="1200">
              <a:solidFill>
                <a:schemeClr val="l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ph type="title"/>
          </p:nvPr>
        </p:nvSpPr>
        <p:spPr>
          <a:xfrm>
            <a:off x="457200" y="1887975"/>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Climate Change</a:t>
            </a:r>
            <a:endParaRPr b="1">
              <a:latin typeface="Poppins"/>
              <a:ea typeface="Poppins"/>
              <a:cs typeface="Poppins"/>
              <a:sym typeface="Poppins"/>
            </a:endParaRPr>
          </a:p>
        </p:txBody>
      </p:sp>
      <p:sp>
        <p:nvSpPr>
          <p:cNvPr id="337" name="Google Shape;337;p43"/>
          <p:cNvSpPr txBox="1"/>
          <p:nvPr>
            <p:ph idx="1" type="body"/>
          </p:nvPr>
        </p:nvSpPr>
        <p:spPr>
          <a:xfrm>
            <a:off x="3668550" y="445025"/>
            <a:ext cx="5191800" cy="4590900"/>
          </a:xfrm>
          <a:prstGeom prst="rect">
            <a:avLst/>
          </a:prstGeom>
          <a:noFill/>
        </p:spPr>
        <p:txBody>
          <a:bodyPr anchorCtr="0" anchor="t" bIns="0" lIns="0" spcFirstLastPara="1" rIns="0" wrap="square" tIns="0">
            <a:noAutofit/>
          </a:bodyPr>
          <a:lstStyle/>
          <a:p>
            <a:pPr indent="0" lvl="0" marL="0" rtl="0" algn="l">
              <a:spcBef>
                <a:spcPts val="0"/>
              </a:spcBef>
              <a:spcAft>
                <a:spcPts val="0"/>
              </a:spcAft>
              <a:buNone/>
            </a:pPr>
            <a:r>
              <a:rPr i="1" lang="en" sz="1100"/>
              <a:t>“We are the first generation to feel the effect of climate change and the last generation who can do something about it.” - Barack Obama, former US President</a:t>
            </a:r>
            <a:endParaRPr sz="1100"/>
          </a:p>
          <a:p>
            <a:pPr indent="0" lvl="0" marL="0" rtl="0" algn="l">
              <a:spcBef>
                <a:spcPts val="1200"/>
              </a:spcBef>
              <a:spcAft>
                <a:spcPts val="0"/>
              </a:spcAft>
              <a:buNone/>
            </a:pPr>
            <a:r>
              <a:rPr b="1" lang="en" sz="1100"/>
              <a:t>Climate Change: </a:t>
            </a:r>
            <a:r>
              <a:rPr lang="en" sz="1100">
                <a:highlight>
                  <a:srgbClr val="FCFCFC"/>
                </a:highlight>
              </a:rPr>
              <a:t> Climate change is a long-term change in the average weather patterns that have come to define Earth’s local, regional and global climates. These changes have a broad range of observed effects that are synonymous with the term.</a:t>
            </a:r>
            <a:r>
              <a:rPr lang="en" sz="1100">
                <a:highlight>
                  <a:srgbClr val="FFFFFF"/>
                </a:highlight>
              </a:rPr>
              <a:t> </a:t>
            </a:r>
            <a:r>
              <a:rPr lang="en" sz="1100" u="sng">
                <a:solidFill>
                  <a:schemeClr val="hlink"/>
                </a:solidFill>
                <a:highlight>
                  <a:srgbClr val="FFFFFF"/>
                </a:highlight>
                <a:hlinkClick r:id="rId3"/>
              </a:rPr>
              <a:t>https://climate.nasa.gov/global-warming-vs-climate-change/</a:t>
            </a:r>
            <a:r>
              <a:rPr lang="en" sz="1100">
                <a:solidFill>
                  <a:srgbClr val="2B2B2B"/>
                </a:solidFill>
                <a:highlight>
                  <a:srgbClr val="FFFFFF"/>
                </a:highlight>
              </a:rPr>
              <a:t> </a:t>
            </a:r>
            <a:endParaRPr b="1" sz="1100"/>
          </a:p>
          <a:p>
            <a:pPr indent="0" lvl="0" marL="0" rtl="0" algn="l">
              <a:spcBef>
                <a:spcPts val="1200"/>
              </a:spcBef>
              <a:spcAft>
                <a:spcPts val="0"/>
              </a:spcAft>
              <a:buNone/>
            </a:pPr>
            <a:r>
              <a:rPr b="1" lang="en" sz="1100"/>
              <a:t>Did you know?</a:t>
            </a:r>
            <a:endParaRPr b="1" sz="1100"/>
          </a:p>
          <a:p>
            <a:pPr indent="0" lvl="0" marL="0" rtl="0" algn="l">
              <a:spcBef>
                <a:spcPts val="1200"/>
              </a:spcBef>
              <a:spcAft>
                <a:spcPts val="0"/>
              </a:spcAft>
              <a:buNone/>
            </a:pPr>
            <a:r>
              <a:rPr lang="en" sz="1100">
                <a:highlight>
                  <a:srgbClr val="FCFCFC"/>
                </a:highlight>
              </a:rPr>
              <a:t>On July 28th 2022, the UK saw it’s highest temperature ever recorded of </a:t>
            </a:r>
            <a:r>
              <a:rPr lang="en" sz="1100">
                <a:highlight>
                  <a:srgbClr val="FCFCFC"/>
                </a:highlight>
                <a:uFill>
                  <a:noFill/>
                </a:uFill>
                <a:hlinkClick r:id="rId4"/>
              </a:rPr>
              <a:t>40.3 degrees</a:t>
            </a:r>
            <a:r>
              <a:rPr lang="en" sz="1100">
                <a:highlight>
                  <a:srgbClr val="FCFCFC"/>
                </a:highlight>
              </a:rPr>
              <a:t>. It brought on a severe drought, caused fires to break out across the country, and severely disrupted rail transport.</a:t>
            </a:r>
            <a:r>
              <a:rPr lang="en" sz="1100">
                <a:solidFill>
                  <a:schemeClr val="dk1"/>
                </a:solidFill>
                <a:highlight>
                  <a:srgbClr val="FCFCFC"/>
                </a:highlight>
              </a:rPr>
              <a:t> (</a:t>
            </a:r>
            <a:r>
              <a:rPr lang="en" sz="1100" u="sng">
                <a:solidFill>
                  <a:schemeClr val="hlink"/>
                </a:solidFill>
                <a:highlight>
                  <a:srgbClr val="FCFCFC"/>
                </a:highlight>
                <a:hlinkClick r:id="rId5"/>
              </a:rPr>
              <a:t>Forbes</a:t>
            </a:r>
            <a:r>
              <a:rPr lang="en" sz="1100">
                <a:solidFill>
                  <a:schemeClr val="dk1"/>
                </a:solidFill>
                <a:highlight>
                  <a:srgbClr val="FCFCFC"/>
                </a:highlight>
              </a:rPr>
              <a:t>)</a:t>
            </a:r>
            <a:endParaRPr sz="1100">
              <a:solidFill>
                <a:schemeClr val="dk1"/>
              </a:solidFill>
              <a:highlight>
                <a:srgbClr val="FCFCFC"/>
              </a:highlight>
            </a:endParaRPr>
          </a:p>
          <a:p>
            <a:pPr indent="0" lvl="0" marL="0" marR="292100" rtl="0" algn="l">
              <a:spcBef>
                <a:spcPts val="1200"/>
              </a:spcBef>
              <a:spcAft>
                <a:spcPts val="0"/>
              </a:spcAft>
              <a:buNone/>
            </a:pPr>
            <a:r>
              <a:rPr b="1" lang="en" sz="1100">
                <a:solidFill>
                  <a:schemeClr val="accent1"/>
                </a:solidFill>
              </a:rPr>
              <a:t>See  Modern Technological Innovations</a:t>
            </a:r>
            <a:endParaRPr b="1" sz="1100">
              <a:solidFill>
                <a:srgbClr val="F1BC00"/>
              </a:solidFill>
            </a:endParaRPr>
          </a:p>
          <a:p>
            <a:pPr indent="-298450" lvl="0" marL="457200" rtl="0" algn="l">
              <a:spcBef>
                <a:spcPts val="600"/>
              </a:spcBef>
              <a:spcAft>
                <a:spcPts val="0"/>
              </a:spcAft>
              <a:buSzPts val="1100"/>
              <a:buChar char="●"/>
            </a:pPr>
            <a:r>
              <a:rPr lang="en" sz="1100" u="sng">
                <a:solidFill>
                  <a:schemeClr val="hlink"/>
                </a:solidFill>
                <a:hlinkClick r:id="rId6"/>
              </a:rPr>
              <a:t>World Wildlife Fund - Cultivating Resilience through Nature</a:t>
            </a:r>
            <a:endParaRPr sz="1100"/>
          </a:p>
          <a:p>
            <a:pPr indent="-298450" lvl="0" marL="457200" rtl="0" algn="l">
              <a:spcBef>
                <a:spcPts val="0"/>
              </a:spcBef>
              <a:spcAft>
                <a:spcPts val="0"/>
              </a:spcAft>
              <a:buSzPts val="1100"/>
              <a:buChar char="●"/>
            </a:pPr>
            <a:r>
              <a:rPr lang="en" sz="1100" u="sng">
                <a:solidFill>
                  <a:schemeClr val="hlink"/>
                </a:solidFill>
                <a:hlinkClick r:id="rId7"/>
              </a:rPr>
              <a:t>Centre for Climate and Energy Solutions</a:t>
            </a:r>
            <a:endParaRPr sz="1100"/>
          </a:p>
          <a:p>
            <a:pPr indent="-298450" lvl="0" marL="457200" rtl="0" algn="l">
              <a:spcBef>
                <a:spcPts val="0"/>
              </a:spcBef>
              <a:spcAft>
                <a:spcPts val="0"/>
              </a:spcAft>
              <a:buSzPts val="1100"/>
              <a:buChar char="●"/>
            </a:pPr>
            <a:r>
              <a:rPr lang="en" sz="1100" u="sng">
                <a:solidFill>
                  <a:schemeClr val="hlink"/>
                </a:solidFill>
                <a:hlinkClick r:id="rId8"/>
              </a:rPr>
              <a:t>10 Case Studies from Climate ADAPT</a:t>
            </a:r>
            <a:endParaRPr sz="1100"/>
          </a:p>
        </p:txBody>
      </p:sp>
      <p:sp>
        <p:nvSpPr>
          <p:cNvPr id="338" name="Google Shape;338;p43"/>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9" name="Google Shape;339;p43"/>
          <p:cNvSpPr txBox="1"/>
          <p:nvPr>
            <p:ph idx="4294967295" type="subTitle"/>
          </p:nvPr>
        </p:nvSpPr>
        <p:spPr>
          <a:xfrm>
            <a:off x="3662100"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Sustainable Infrastructure: Climate Change</a:t>
            </a:r>
            <a:endParaRPr sz="1200">
              <a:solidFill>
                <a:schemeClr val="lt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4"/>
          <p:cNvSpPr txBox="1"/>
          <p:nvPr>
            <p:ph type="title"/>
          </p:nvPr>
        </p:nvSpPr>
        <p:spPr>
          <a:xfrm>
            <a:off x="457200" y="1756850"/>
            <a:ext cx="2394900" cy="1482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Poppins"/>
                <a:ea typeface="Poppins"/>
                <a:cs typeface="Poppins"/>
                <a:sym typeface="Poppins"/>
              </a:rPr>
              <a:t>Pollution: </a:t>
            </a:r>
            <a:r>
              <a:rPr b="1" lang="en">
                <a:latin typeface="Poppins"/>
                <a:ea typeface="Poppins"/>
                <a:cs typeface="Poppins"/>
                <a:sym typeface="Poppins"/>
              </a:rPr>
              <a:t>Carbon</a:t>
            </a:r>
            <a:r>
              <a:rPr b="1" lang="en">
                <a:latin typeface="Poppins"/>
                <a:ea typeface="Poppins"/>
                <a:cs typeface="Poppins"/>
                <a:sym typeface="Poppins"/>
              </a:rPr>
              <a:t> </a:t>
            </a:r>
            <a:r>
              <a:rPr b="1" lang="en">
                <a:latin typeface="Poppins"/>
                <a:ea typeface="Poppins"/>
                <a:cs typeface="Poppins"/>
                <a:sym typeface="Poppins"/>
              </a:rPr>
              <a:t>Capture</a:t>
            </a:r>
            <a:r>
              <a:rPr b="1" lang="en">
                <a:latin typeface="Poppins"/>
                <a:ea typeface="Poppins"/>
                <a:cs typeface="Poppins"/>
                <a:sym typeface="Poppins"/>
              </a:rPr>
              <a:t> &amp; Sequestration</a:t>
            </a:r>
            <a:endParaRPr b="1">
              <a:latin typeface="Poppins"/>
              <a:ea typeface="Poppins"/>
              <a:cs typeface="Poppins"/>
              <a:sym typeface="Poppins"/>
            </a:endParaRPr>
          </a:p>
          <a:p>
            <a:pPr indent="0" lvl="0" marL="0" rtl="0" algn="l">
              <a:spcBef>
                <a:spcPts val="0"/>
              </a:spcBef>
              <a:spcAft>
                <a:spcPts val="0"/>
              </a:spcAft>
              <a:buNone/>
            </a:pPr>
            <a:r>
              <a:t/>
            </a:r>
            <a:endParaRPr b="1">
              <a:latin typeface="Poppins"/>
              <a:ea typeface="Poppins"/>
              <a:cs typeface="Poppins"/>
              <a:sym typeface="Poppins"/>
            </a:endParaRPr>
          </a:p>
        </p:txBody>
      </p:sp>
      <p:sp>
        <p:nvSpPr>
          <p:cNvPr id="345" name="Google Shape;345;p44"/>
          <p:cNvSpPr txBox="1"/>
          <p:nvPr>
            <p:ph idx="1" type="body"/>
          </p:nvPr>
        </p:nvSpPr>
        <p:spPr>
          <a:xfrm>
            <a:off x="3656425" y="445025"/>
            <a:ext cx="5160000" cy="45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sz="1100"/>
              <a:t>“The simplest carbon dioxide removal approach is to plant a tree” - Ken Caldeira, Climate Scientist &amp; Senior Advisor to Bill Gates</a:t>
            </a:r>
            <a:endParaRPr sz="1100"/>
          </a:p>
          <a:p>
            <a:pPr indent="0" lvl="0" marL="0" rtl="0" algn="l">
              <a:spcBef>
                <a:spcPts val="1200"/>
              </a:spcBef>
              <a:spcAft>
                <a:spcPts val="0"/>
              </a:spcAft>
              <a:buNone/>
            </a:pPr>
            <a:r>
              <a:rPr b="1" lang="en" sz="1100"/>
              <a:t>CCUS (Carbon capture, utilization, and storage):  “</a:t>
            </a:r>
            <a:r>
              <a:rPr lang="en" sz="1100"/>
              <a:t>the capture of carbon dioxide (CO2) from fuel combustion or industrial processes, the transport of this CO2 via ship or pipeline, and either its use as a resource to create valuable products or services or its permanent storage deep underground in geological formations.” (</a:t>
            </a:r>
            <a:r>
              <a:rPr lang="en" sz="1100" u="sng">
                <a:solidFill>
                  <a:schemeClr val="hlink"/>
                </a:solidFill>
                <a:hlinkClick r:id="rId3"/>
              </a:rPr>
              <a:t>International Energy Agency</a:t>
            </a:r>
            <a:r>
              <a:rPr lang="en" sz="1100"/>
              <a:t>)</a:t>
            </a:r>
            <a:endParaRPr sz="1100"/>
          </a:p>
          <a:p>
            <a:pPr indent="0" lvl="0" marL="0" rtl="0" algn="l">
              <a:spcBef>
                <a:spcPts val="1200"/>
              </a:spcBef>
              <a:spcAft>
                <a:spcPts val="0"/>
              </a:spcAft>
              <a:buNone/>
            </a:pPr>
            <a:r>
              <a:rPr b="1" lang="en" sz="1100"/>
              <a:t>Did you know?</a:t>
            </a:r>
            <a:endParaRPr b="1" sz="1100"/>
          </a:p>
          <a:p>
            <a:pPr indent="0" lvl="0" marL="0" marR="292100" rtl="0" algn="l">
              <a:spcBef>
                <a:spcPts val="1200"/>
              </a:spcBef>
              <a:spcAft>
                <a:spcPts val="0"/>
              </a:spcAft>
              <a:buNone/>
            </a:pPr>
            <a:r>
              <a:rPr lang="en" sz="1100"/>
              <a:t>Carbon capture, use, and storage technologies can capture more than 90 percent of carbon dioxide (CO2) emissions from power plants and industrial facilities.</a:t>
            </a:r>
            <a:r>
              <a:rPr lang="en" sz="1100">
                <a:highlight>
                  <a:srgbClr val="F5F6F8"/>
                </a:highlight>
              </a:rPr>
              <a:t> </a:t>
            </a:r>
            <a:r>
              <a:rPr lang="en" sz="1100"/>
              <a:t>(</a:t>
            </a:r>
            <a:r>
              <a:rPr lang="en" sz="1100" u="sng">
                <a:solidFill>
                  <a:schemeClr val="hlink"/>
                </a:solidFill>
                <a:hlinkClick r:id="rId4"/>
              </a:rPr>
              <a:t>Centre for Climate Change and Energy solutions</a:t>
            </a:r>
            <a:r>
              <a:rPr lang="en" sz="1100"/>
              <a:t>)</a:t>
            </a:r>
            <a:endParaRPr sz="1100"/>
          </a:p>
          <a:p>
            <a:pPr indent="0" lvl="0" marL="0" marR="292100" rtl="0" algn="l">
              <a:spcBef>
                <a:spcPts val="600"/>
              </a:spcBef>
              <a:spcAft>
                <a:spcPts val="0"/>
              </a:spcAft>
              <a:buNone/>
            </a:pPr>
            <a:r>
              <a:t/>
            </a:r>
            <a:endParaRPr sz="1100"/>
          </a:p>
          <a:p>
            <a:pPr indent="0" lvl="0" marL="0" marR="292100" rtl="0" algn="l">
              <a:spcBef>
                <a:spcPts val="600"/>
              </a:spcBef>
              <a:spcAft>
                <a:spcPts val="0"/>
              </a:spcAft>
              <a:buNone/>
            </a:pPr>
            <a:r>
              <a:rPr b="1" lang="en" sz="1100">
                <a:solidFill>
                  <a:schemeClr val="accent1"/>
                </a:solidFill>
              </a:rPr>
              <a:t>See  Modern Technological Innovations</a:t>
            </a:r>
            <a:endParaRPr b="1" sz="1100">
              <a:solidFill>
                <a:srgbClr val="F1BC00"/>
              </a:solidFill>
            </a:endParaRPr>
          </a:p>
          <a:p>
            <a:pPr indent="-298450" lvl="0" marL="457200" marR="292100" rtl="0" algn="l">
              <a:spcBef>
                <a:spcPts val="600"/>
              </a:spcBef>
              <a:spcAft>
                <a:spcPts val="0"/>
              </a:spcAft>
              <a:buSzPts val="1100"/>
              <a:buChar char="●"/>
            </a:pPr>
            <a:r>
              <a:rPr lang="en" sz="1100" u="sng">
                <a:solidFill>
                  <a:schemeClr val="hlink"/>
                </a:solidFill>
                <a:hlinkClick r:id="rId5"/>
              </a:rPr>
              <a:t>The Petra Nova Carbon Capture Project</a:t>
            </a:r>
            <a:endParaRPr sz="1100"/>
          </a:p>
          <a:p>
            <a:pPr indent="-298450" lvl="0" marL="457200" marR="292100" rtl="0" algn="l">
              <a:spcBef>
                <a:spcPts val="0"/>
              </a:spcBef>
              <a:spcAft>
                <a:spcPts val="0"/>
              </a:spcAft>
              <a:buSzPts val="1100"/>
              <a:buChar char="●"/>
            </a:pPr>
            <a:r>
              <a:rPr lang="en" sz="1100" u="sng">
                <a:solidFill>
                  <a:schemeClr val="hlink"/>
                </a:solidFill>
                <a:hlinkClick r:id="rId6"/>
              </a:rPr>
              <a:t>David Suzuki Foundation on Carbon Capture</a:t>
            </a:r>
            <a:endParaRPr sz="1100"/>
          </a:p>
          <a:p>
            <a:pPr indent="0" lvl="0" marL="0" rtl="0" algn="l">
              <a:spcBef>
                <a:spcPts val="6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1200"/>
              </a:spcAft>
              <a:buNone/>
            </a:pPr>
            <a:r>
              <a:t/>
            </a:r>
            <a:endParaRPr sz="1100"/>
          </a:p>
        </p:txBody>
      </p:sp>
      <p:sp>
        <p:nvSpPr>
          <p:cNvPr id="346" name="Google Shape;346;p44"/>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44"/>
          <p:cNvSpPr txBox="1"/>
          <p:nvPr>
            <p:ph idx="4294967295" type="subTitle"/>
          </p:nvPr>
        </p:nvSpPr>
        <p:spPr>
          <a:xfrm>
            <a:off x="3662100"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Sustainable Infrastructure: Pollution</a:t>
            </a:r>
            <a:endParaRPr sz="1200">
              <a:solidFill>
                <a:schemeClr val="lt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5"/>
          <p:cNvSpPr txBox="1"/>
          <p:nvPr>
            <p:ph type="title"/>
          </p:nvPr>
        </p:nvSpPr>
        <p:spPr>
          <a:xfrm>
            <a:off x="457200" y="1740475"/>
            <a:ext cx="2394900" cy="1482300"/>
          </a:xfrm>
          <a:prstGeom prst="rect">
            <a:avLst/>
          </a:prstGeom>
        </p:spPr>
        <p:txBody>
          <a:bodyPr anchorCtr="0" anchor="ctr" bIns="0" lIns="0" spcFirstLastPara="1" rIns="0" wrap="square" tIns="0">
            <a:noAutofit/>
          </a:bodyPr>
          <a:lstStyle/>
          <a:p>
            <a:pPr indent="0" lvl="0" marL="0" rtl="0" algn="l">
              <a:lnSpc>
                <a:spcPct val="115000"/>
              </a:lnSpc>
              <a:spcBef>
                <a:spcPts val="1200"/>
              </a:spcBef>
              <a:spcAft>
                <a:spcPts val="1200"/>
              </a:spcAft>
              <a:buNone/>
            </a:pPr>
            <a:r>
              <a:rPr b="1" lang="en"/>
              <a:t>Biodiversity </a:t>
            </a:r>
            <a:r>
              <a:rPr b="1" lang="en"/>
              <a:t>Governance </a:t>
            </a:r>
            <a:endParaRPr/>
          </a:p>
        </p:txBody>
      </p:sp>
      <p:sp>
        <p:nvSpPr>
          <p:cNvPr id="353" name="Google Shape;353;p45"/>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4" name="Google Shape;354;p45"/>
          <p:cNvSpPr txBox="1"/>
          <p:nvPr>
            <p:ph idx="1" type="body"/>
          </p:nvPr>
        </p:nvSpPr>
        <p:spPr>
          <a:xfrm>
            <a:off x="3656950" y="445025"/>
            <a:ext cx="4847100" cy="4117800"/>
          </a:xfrm>
          <a:prstGeom prst="rect">
            <a:avLst/>
          </a:prstGeom>
          <a:noFill/>
        </p:spPr>
        <p:txBody>
          <a:bodyPr anchorCtr="0" anchor="t" bIns="0" lIns="0" spcFirstLastPara="1" rIns="0" wrap="square" tIns="0">
            <a:noAutofit/>
          </a:bodyPr>
          <a:lstStyle/>
          <a:p>
            <a:pPr indent="0" lvl="0" marL="0" rtl="0" algn="l">
              <a:spcBef>
                <a:spcPts val="0"/>
              </a:spcBef>
              <a:spcAft>
                <a:spcPts val="0"/>
              </a:spcAft>
              <a:buNone/>
            </a:pPr>
            <a:r>
              <a:rPr i="1" lang="en" sz="1100"/>
              <a:t>“Look closely at nature. Every species is a masterpiece, exquisitely adapted to the particular environment in which it has survived. Who are to destroy or even diminish biodiversity?.” - E.O Wilson </a:t>
            </a:r>
            <a:endParaRPr sz="1100"/>
          </a:p>
          <a:p>
            <a:pPr indent="0" lvl="0" marL="0" rtl="0" algn="l">
              <a:spcBef>
                <a:spcPts val="1200"/>
              </a:spcBef>
              <a:spcAft>
                <a:spcPts val="0"/>
              </a:spcAft>
              <a:buNone/>
            </a:pPr>
            <a:r>
              <a:rPr b="1" lang="en" sz="1100">
                <a:solidFill>
                  <a:srgbClr val="595959"/>
                </a:solidFill>
              </a:rPr>
              <a:t>Governance of Biodiversity:</a:t>
            </a:r>
            <a:r>
              <a:rPr lang="en" sz="1100"/>
              <a:t> </a:t>
            </a:r>
            <a:r>
              <a:rPr lang="en" sz="1100"/>
              <a:t>Biodiversity governance has traditionally relied on natural science-based tools such as indicator frameworks, or integrated assessment models to assess the state of species and ecosystems and drivers of change, or methods to quantify the economic value of nature.</a:t>
            </a:r>
            <a:r>
              <a:rPr lang="en" sz="1100">
                <a:solidFill>
                  <a:srgbClr val="202124"/>
                </a:solidFill>
                <a:highlight>
                  <a:srgbClr val="FFFFFF"/>
                </a:highlight>
                <a:latin typeface="Arial"/>
                <a:ea typeface="Arial"/>
                <a:cs typeface="Arial"/>
                <a:sym typeface="Arial"/>
              </a:rPr>
              <a:t> (</a:t>
            </a:r>
            <a:r>
              <a:rPr lang="en" sz="1100" u="sng">
                <a:solidFill>
                  <a:schemeClr val="hlink"/>
                </a:solidFill>
                <a:highlight>
                  <a:srgbClr val="FFFFFF"/>
                </a:highlight>
                <a:latin typeface="Arial"/>
                <a:ea typeface="Arial"/>
                <a:cs typeface="Arial"/>
                <a:sym typeface="Arial"/>
                <a:hlinkClick r:id="rId3"/>
              </a:rPr>
              <a:t>ScienceDirect</a:t>
            </a:r>
            <a:r>
              <a:rPr lang="en" sz="1100"/>
              <a:t>)</a:t>
            </a:r>
            <a:endParaRPr sz="1100"/>
          </a:p>
          <a:p>
            <a:pPr indent="0" lvl="0" marL="0" rtl="0" algn="l">
              <a:spcBef>
                <a:spcPts val="1200"/>
              </a:spcBef>
              <a:spcAft>
                <a:spcPts val="0"/>
              </a:spcAft>
              <a:buNone/>
            </a:pPr>
            <a:r>
              <a:rPr b="1" lang="en" sz="1100"/>
              <a:t>Did you know?</a:t>
            </a:r>
            <a:endParaRPr b="1" sz="1100"/>
          </a:p>
          <a:p>
            <a:pPr indent="0" lvl="0" marL="0" rtl="0" algn="l">
              <a:spcBef>
                <a:spcPts val="1200"/>
              </a:spcBef>
              <a:spcAft>
                <a:spcPts val="0"/>
              </a:spcAft>
              <a:buNone/>
            </a:pPr>
            <a:r>
              <a:rPr lang="en" sz="1100"/>
              <a:t>There has been a 68% decline in populations of mammals, birds, fish, reptiles and amphibians globally since 1970 (</a:t>
            </a:r>
            <a:r>
              <a:rPr lang="en" sz="1100" u="sng">
                <a:solidFill>
                  <a:schemeClr val="hlink"/>
                </a:solidFill>
                <a:hlinkClick r:id="rId4"/>
              </a:rPr>
              <a:t>WWF - Living Planet Report 2020</a:t>
            </a:r>
            <a:r>
              <a:rPr lang="en" sz="1100"/>
              <a:t>).</a:t>
            </a:r>
            <a:endParaRPr sz="1100"/>
          </a:p>
          <a:p>
            <a:pPr indent="0" lvl="0" marL="0" marR="292100" rtl="0" algn="l">
              <a:spcBef>
                <a:spcPts val="1200"/>
              </a:spcBef>
              <a:spcAft>
                <a:spcPts val="0"/>
              </a:spcAft>
              <a:buNone/>
            </a:pPr>
            <a:r>
              <a:rPr b="1" lang="en" sz="1100">
                <a:solidFill>
                  <a:schemeClr val="accent1"/>
                </a:solidFill>
              </a:rPr>
              <a:t>See  Modern Technological Innovations</a:t>
            </a:r>
            <a:endParaRPr sz="1100">
              <a:solidFill>
                <a:srgbClr val="F1BC00"/>
              </a:solidFill>
            </a:endParaRPr>
          </a:p>
          <a:p>
            <a:pPr indent="-298450" lvl="0" marL="457200" rtl="0" algn="l">
              <a:spcBef>
                <a:spcPts val="600"/>
              </a:spcBef>
              <a:spcAft>
                <a:spcPts val="0"/>
              </a:spcAft>
              <a:buSzPts val="1100"/>
              <a:buChar char="●"/>
            </a:pPr>
            <a:r>
              <a:rPr lang="en" sz="1100" u="sng">
                <a:solidFill>
                  <a:schemeClr val="hlink"/>
                </a:solidFill>
                <a:hlinkClick r:id="rId5"/>
              </a:rPr>
              <a:t>The urgency of Transforming Biodiversity Governance </a:t>
            </a:r>
            <a:endParaRPr sz="1100"/>
          </a:p>
        </p:txBody>
      </p:sp>
      <p:sp>
        <p:nvSpPr>
          <p:cNvPr id="355" name="Google Shape;355;p45"/>
          <p:cNvSpPr txBox="1"/>
          <p:nvPr>
            <p:ph idx="4294967295" type="subTitle"/>
          </p:nvPr>
        </p:nvSpPr>
        <p:spPr>
          <a:xfrm>
            <a:off x="3662100" y="915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sz="1200">
                <a:solidFill>
                  <a:schemeClr val="lt2"/>
                </a:solidFill>
              </a:rPr>
              <a:t>Sustainable Infrastructure: Biodiversity Governance</a:t>
            </a:r>
            <a:endParaRPr sz="1200">
              <a:solidFill>
                <a:schemeClr val="lt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6"/>
          <p:cNvSpPr txBox="1"/>
          <p:nvPr>
            <p:ph type="title"/>
          </p:nvPr>
        </p:nvSpPr>
        <p:spPr>
          <a:xfrm>
            <a:off x="457200" y="445025"/>
            <a:ext cx="8229600" cy="64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Examples from Previous Hack the Globe Winners</a:t>
            </a:r>
            <a:endParaRPr/>
          </a:p>
        </p:txBody>
      </p:sp>
      <p:sp>
        <p:nvSpPr>
          <p:cNvPr id="361" name="Google Shape;361;p46"/>
          <p:cNvSpPr txBox="1"/>
          <p:nvPr>
            <p:ph idx="1" type="body"/>
          </p:nvPr>
        </p:nvSpPr>
        <p:spPr>
          <a:xfrm>
            <a:off x="457200" y="1645524"/>
            <a:ext cx="3854400" cy="925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Smart composters that reduce food waste while tracking disposal behaviour to improve sustainability practices.</a:t>
            </a:r>
            <a:endParaRPr/>
          </a:p>
        </p:txBody>
      </p:sp>
      <p:sp>
        <p:nvSpPr>
          <p:cNvPr id="362" name="Google Shape;362;p46"/>
          <p:cNvSpPr txBox="1"/>
          <p:nvPr>
            <p:ph idx="2" type="body"/>
          </p:nvPr>
        </p:nvSpPr>
        <p:spPr>
          <a:xfrm>
            <a:off x="4832400" y="1645925"/>
            <a:ext cx="3858900" cy="9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reusable bag-sharing system allowing consumers to borrow bags through a client app.</a:t>
            </a:r>
            <a:endParaRPr/>
          </a:p>
          <a:p>
            <a:pPr indent="0" lvl="0" marL="0" rtl="0" algn="l">
              <a:spcBef>
                <a:spcPts val="1200"/>
              </a:spcBef>
              <a:spcAft>
                <a:spcPts val="1200"/>
              </a:spcAft>
              <a:buNone/>
            </a:pPr>
            <a:r>
              <a:t/>
            </a:r>
            <a:endParaRPr/>
          </a:p>
        </p:txBody>
      </p:sp>
      <p:sp>
        <p:nvSpPr>
          <p:cNvPr id="363" name="Google Shape;363;p46"/>
          <p:cNvSpPr txBox="1"/>
          <p:nvPr>
            <p:ph idx="12" type="sldNum"/>
          </p:nvPr>
        </p:nvSpPr>
        <p:spPr>
          <a:xfrm>
            <a:off x="8212926" y="4663225"/>
            <a:ext cx="4740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46"/>
          <p:cNvSpPr txBox="1"/>
          <p:nvPr>
            <p:ph idx="3" type="subTitle"/>
          </p:nvPr>
        </p:nvSpPr>
        <p:spPr>
          <a:xfrm>
            <a:off x="454700" y="0"/>
            <a:ext cx="4466700" cy="438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u="sng">
                <a:solidFill>
                  <a:schemeClr val="hlink"/>
                </a:solidFill>
                <a:hlinkClick r:id="rId3"/>
              </a:rPr>
              <a:t>https://globalspark.world/hacktheglobe</a:t>
            </a:r>
            <a:r>
              <a:rPr lang="en"/>
              <a:t> </a:t>
            </a:r>
            <a:endParaRPr/>
          </a:p>
        </p:txBody>
      </p:sp>
      <p:sp>
        <p:nvSpPr>
          <p:cNvPr id="365" name="Google Shape;365;p46"/>
          <p:cNvSpPr txBox="1"/>
          <p:nvPr>
            <p:ph idx="4" type="subTitle"/>
          </p:nvPr>
        </p:nvSpPr>
        <p:spPr>
          <a:xfrm>
            <a:off x="457200" y="1228413"/>
            <a:ext cx="3858900" cy="273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a:t>EcoTrack (2024 – 1st Place)</a:t>
            </a:r>
            <a:endParaRPr/>
          </a:p>
        </p:txBody>
      </p:sp>
      <p:sp>
        <p:nvSpPr>
          <p:cNvPr id="366" name="Google Shape;366;p46"/>
          <p:cNvSpPr txBox="1"/>
          <p:nvPr>
            <p:ph idx="5" type="subTitle"/>
          </p:nvPr>
        </p:nvSpPr>
        <p:spPr>
          <a:xfrm>
            <a:off x="4830150" y="1228613"/>
            <a:ext cx="3858900" cy="273900"/>
          </a:xfrm>
          <a:prstGeom prst="rect">
            <a:avLst/>
          </a:prstGeom>
        </p:spPr>
        <p:txBody>
          <a:bodyPr anchorCtr="0" anchor="ctr" bIns="0" lIns="0" spcFirstLastPara="1" rIns="0" wrap="square" tIns="0">
            <a:noAutofit/>
          </a:bodyPr>
          <a:lstStyle/>
          <a:p>
            <a:pPr indent="0" lvl="0" marL="0" rtl="0" algn="l">
              <a:spcBef>
                <a:spcPts val="0"/>
              </a:spcBef>
              <a:spcAft>
                <a:spcPts val="1200"/>
              </a:spcAft>
              <a:buNone/>
            </a:pPr>
            <a:r>
              <a:rPr lang="en"/>
              <a:t>BagSHARE (2023 – 1st Place)</a:t>
            </a:r>
            <a:endParaRPr/>
          </a:p>
        </p:txBody>
      </p:sp>
      <p:pic>
        <p:nvPicPr>
          <p:cNvPr id="367" name="Google Shape;367;p46" title="markus-spiske-mvu1-Gzg1tg-unsplash.jpg"/>
          <p:cNvPicPr preferRelativeResize="0"/>
          <p:nvPr/>
        </p:nvPicPr>
        <p:blipFill>
          <a:blip r:embed="rId4">
            <a:alphaModFix/>
          </a:blip>
          <a:stretch>
            <a:fillRect/>
          </a:stretch>
        </p:blipFill>
        <p:spPr>
          <a:xfrm>
            <a:off x="454700" y="2435549"/>
            <a:ext cx="3398410" cy="2267376"/>
          </a:xfrm>
          <a:prstGeom prst="rect">
            <a:avLst/>
          </a:prstGeom>
          <a:noFill/>
          <a:ln>
            <a:noFill/>
          </a:ln>
        </p:spPr>
      </p:pic>
      <p:pic>
        <p:nvPicPr>
          <p:cNvPr id="368" name="Google Shape;368;p46" title="priscilla-du-preez-urcDzLL0HnI-unsplash.jpg"/>
          <p:cNvPicPr preferRelativeResize="0"/>
          <p:nvPr/>
        </p:nvPicPr>
        <p:blipFill>
          <a:blip r:embed="rId5">
            <a:alphaModFix/>
          </a:blip>
          <a:stretch>
            <a:fillRect/>
          </a:stretch>
        </p:blipFill>
        <p:spPr>
          <a:xfrm>
            <a:off x="4830160" y="2435747"/>
            <a:ext cx="3397813" cy="226697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lobal Spark">
  <a:themeElements>
    <a:clrScheme name="Simple Light">
      <a:dk1>
        <a:srgbClr val="333333"/>
      </a:dk1>
      <a:lt1>
        <a:srgbClr val="FAFAFA"/>
      </a:lt1>
      <a:dk2>
        <a:srgbClr val="595959"/>
      </a:dk2>
      <a:lt2>
        <a:srgbClr val="C4C4C4"/>
      </a:lt2>
      <a:accent1>
        <a:srgbClr val="F1BC00"/>
      </a:accent1>
      <a:accent2>
        <a:srgbClr val="EEC945"/>
      </a:accent2>
      <a:accent3>
        <a:srgbClr val="FBEDB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